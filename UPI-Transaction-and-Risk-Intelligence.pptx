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arlow Bold"/>
      <p:regular r:id="rId13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itchFamily="2" charset="77"/>
      <p:regular r:id="rId19"/>
      <p:bold r:id="rId20"/>
      <p:italic r:id="rId21"/>
      <p:boldItalic r:id="rId22"/>
    </p:embeddedFont>
    <p:embeddedFont>
      <p:font typeface="Montserrat Bold" pitchFamily="2" charset="7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29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03794" y="2143323"/>
            <a:ext cx="3328805" cy="274241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sp>
        <p:nvSpPr>
          <p:cNvPr id="4" name="Text 1"/>
          <p:cNvSpPr/>
          <p:nvPr/>
        </p:nvSpPr>
        <p:spPr>
          <a:xfrm>
            <a:off x="5312039" y="2197398"/>
            <a:ext cx="37219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TRANSORG AGENTIQ DATATHON · TRACK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203794" y="2489696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UPI Transaction Anomaly &amp; Risk Intelligence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03794" y="3948311"/>
            <a:ext cx="696557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TR-1: UPI Fraud &amp; Merchant Risk Intelligence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03794" y="4440337"/>
            <a:ext cx="1850086" cy="27424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2039" y="4494411"/>
            <a:ext cx="224318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THE CLOVE MIX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427BB2-D8F8-E506-EC5B-C6A553313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213" y="6500191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31908" y="528340"/>
            <a:ext cx="1329498" cy="248444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0033" y="577354"/>
            <a:ext cx="1742833" cy="150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31908" y="836017"/>
            <a:ext cx="6355993" cy="538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 We're Solving</a:t>
            </a:r>
            <a:endParaRPr lang="en-US" sz="3350" dirty="0"/>
          </a:p>
        </p:txBody>
      </p:sp>
      <p:sp>
        <p:nvSpPr>
          <p:cNvPr id="6" name="Shape 3"/>
          <p:cNvSpPr/>
          <p:nvPr/>
        </p:nvSpPr>
        <p:spPr>
          <a:xfrm>
            <a:off x="631908" y="1596628"/>
            <a:ext cx="6355993" cy="947341"/>
          </a:xfrm>
          <a:prstGeom prst="roundRect">
            <a:avLst>
              <a:gd name="adj" fmla="val 25907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1866" y="1766590"/>
            <a:ext cx="6016078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1866" y="2124571"/>
            <a:ext cx="601607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UPI volumes are massive and growing — manual review cannot keep up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1908" y="2692202"/>
            <a:ext cx="6355993" cy="1196777"/>
          </a:xfrm>
          <a:prstGeom prst="roundRect">
            <a:avLst>
              <a:gd name="adj" fmla="val 20508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866" y="2862163"/>
            <a:ext cx="6016078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Fraud &amp; Disputes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01866" y="3220145"/>
            <a:ext cx="601607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Fraudulent transactions, disputed chargebacks, and incomplete KYC records create real financial and compliance risk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1908" y="4037211"/>
            <a:ext cx="6355993" cy="1196777"/>
          </a:xfrm>
          <a:prstGeom prst="roundRect">
            <a:avLst>
              <a:gd name="adj" fmla="val 20508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1866" y="4207173"/>
            <a:ext cx="6016078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Gap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01866" y="4565154"/>
            <a:ext cx="6016078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single, reliable view of transaction health, merchant risk, and dispute patterns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31908" y="5382220"/>
            <a:ext cx="6355993" cy="947341"/>
          </a:xfrm>
          <a:prstGeom prst="roundRect">
            <a:avLst>
              <a:gd name="adj" fmla="val 25907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866" y="5552182"/>
            <a:ext cx="6016078" cy="269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Accessibility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01866" y="5910163"/>
            <a:ext cx="601607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Non-technical stakeholders need plain-English access to data insights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723485" cy="13702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981" y="523478"/>
            <a:ext cx="1224924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APPROACH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 &amp; Scope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1016000"/>
            <a:ext cx="11537463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an end-to-end analytics pipeline — from raw UPI data to a live, interactive platform.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53" y="1175048"/>
            <a:ext cx="9749189" cy="5327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06861" y="3663079"/>
            <a:ext cx="2258953" cy="323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Raw UPI 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11103" y="3628417"/>
            <a:ext cx="2258953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Cleaned Analytics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24548" y="3639686"/>
            <a:ext cx="2258954" cy="323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 Dashboard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1908" y="6553200"/>
            <a:ext cx="11537463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Track 1 Focus: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Fraud detection · Merchant risk scoring · Data-quality transparency</a:t>
            </a:r>
            <a:endParaRPr lang="en-US" sz="7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902C10-D968-858B-2282-FD300170F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853657" cy="13702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981" y="523478"/>
            <a:ext cx="1355096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ENGINEERING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&amp; Cleaning Pipeline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066701"/>
            <a:ext cx="5353809" cy="5353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2327" y="2898279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 Raw Sources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2327" y="3091755"/>
            <a:ext cx="5353809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KYC records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Merchants master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UPI transactions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Chargebacks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2327" y="3617516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Cleaning Pipeline (</a:t>
            </a:r>
            <a:r>
              <a:rPr lang="en-US" sz="900" b="1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clean_pipeline.py</a:t>
            </a: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2327" y="3810992"/>
            <a:ext cx="5353809" cy="487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PAN/Aadhaar masking (PII protection)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Null-token scrubbing (</a:t>
            </a: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7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coercion &amp; duplicate handling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 fixes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212327" y="4348758"/>
            <a:ext cx="5353809" cy="234553"/>
          </a:xfrm>
          <a:prstGeom prst="roundRect">
            <a:avLst>
              <a:gd name="adj" fmla="val 49999"/>
            </a:avLst>
          </a:prstGeom>
          <a:solidFill>
            <a:srgbClr val="D4E9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515" y="4419898"/>
            <a:ext cx="112809" cy="90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05511" y="4411861"/>
            <a:ext cx="5580022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Output:</a:t>
            </a:r>
            <a:r>
              <a:rPr lang="en-US" sz="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4-table star schema · ~20,000 transactions</a:t>
            </a:r>
            <a:endParaRPr lang="en-US" sz="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C29621-426A-9B1E-90E3-427D71BCB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96503"/>
            <a:ext cx="1291101" cy="27424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153" y="650577"/>
            <a:ext cx="16841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94287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Quality as a First-Class Feature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2197045" y="2981027"/>
            <a:ext cx="2220659" cy="45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48%</a:t>
            </a:r>
            <a:endParaRPr lang="en-US" sz="3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370" y="1852613"/>
            <a:ext cx="2708207" cy="2708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1908" y="4786412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Merchant Match Rate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1908" y="5191522"/>
            <a:ext cx="535113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Transactions linked to a real merchant record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3793" y="2981027"/>
            <a:ext cx="2220659" cy="45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32%</a:t>
            </a:r>
            <a:endParaRPr lang="en-US" sz="3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118" y="1852613"/>
            <a:ext cx="2708207" cy="27082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08656" y="4786412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Match Rate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208656" y="5191522"/>
            <a:ext cx="535113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Transactions linked to a real customer record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1908" y="568354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Unmatched records are labelled as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"No Matching Merchant/Customer"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never silently dropped. Match-rate KPIs appear on every relevant chart, making data quality visible rather than hidden.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DCBBF4-4720-F516-D5E2-C0AD6DED9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436055" cy="13702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981" y="523478"/>
            <a:ext cx="937495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KPI Framework: 18 Core KPIs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1066701"/>
            <a:ext cx="5353809" cy="5353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2327" y="3272234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Five Categories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12327" y="3465711"/>
            <a:ext cx="5353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Volume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Total Transactions, Total Txn Amount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Status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Success / Failed / Pending Rate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Risk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Chargeback Ratio, High-Risk Merchants, Merchant-Day Spikes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Compliance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KYC Completion / Rejection Rate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Quality</a:t>
            </a: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FK match rates, UTR missing/invalid rate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2327" y="4111129"/>
            <a:ext cx="5963394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KPI has a documented formula, data source, and owner team.</a:t>
            </a:r>
            <a:endParaRPr lang="en-US" sz="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E27636-F207-6626-387A-0C7330889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1275060"/>
            <a:ext cx="1389921" cy="27424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153" y="1329134"/>
            <a:ext cx="178301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162143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31908" y="2486124"/>
            <a:ext cx="3522277" cy="1356618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733" y="2672953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Overview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18733" y="3078063"/>
            <a:ext cx="314862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High-level transaction health &amp; KPIs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4660" y="2486124"/>
            <a:ext cx="3522277" cy="1356618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1484" y="2672953"/>
            <a:ext cx="314862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Fraud &amp; Dispute Analysis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21484" y="3078063"/>
            <a:ext cx="314862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Chargebacks, patterns &amp; anomalies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37411" y="2486124"/>
            <a:ext cx="3522376" cy="1356618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4235" y="2672953"/>
            <a:ext cx="31487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 Risk &amp; Data Quality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4235" y="3078063"/>
            <a:ext cx="314872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FK match rates, unmatched records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1908" y="4023221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733" y="4210050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Fraud-Ring Spotlight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18733" y="4615160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Clustered suspicious activity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6035" y="4023221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2859" y="4210050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KPI Reference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2859" y="4615160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FAQ, full KPI dictionary &amp; chatbot link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1908" y="5294015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page navigator · Drill-down by merchant category, state, and city · Published via Power BI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"Publish to Web"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F62C61-DA05-8E60-A6DA-9714F1CE7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571698"/>
            <a:ext cx="1113901" cy="27424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153" y="625773"/>
            <a:ext cx="15069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1908" y="91807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Chatbot: Text-to-SQL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2065635"/>
            <a:ext cx="6948909" cy="39377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27687" y="1963241"/>
            <a:ext cx="353835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027687" y="2440583"/>
            <a:ext cx="3538350" cy="378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backend — </a:t>
            </a: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read-only by design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is_read_only()</a:t>
            </a: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guardrail on every query path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hand-vetted SQL templates for instant answers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fallback (OpenRouter) for complex queries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Answers cite actual query results — never from memory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4 cleaned CSVs as the dashboard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2E708F-3A63-6FD7-710C-D9103E45E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496491"/>
            <a:ext cx="628833" cy="137021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981" y="523478"/>
            <a:ext cx="1130272" cy="83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31908" y="651470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Web Platform &amp; Deployment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3123605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Public Website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31908" y="3317081"/>
            <a:ext cx="5353809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Power BI dashboard embed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&amp; architecture page (ER diagrams)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page &amp; information/FAQ section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Chatbot widget embedded on every page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31908" y="3842841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1908" y="4036318"/>
            <a:ext cx="5353809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Oracle Cloud — Ubuntu instance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systemd services for always-on access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link for the entire project</a:t>
            </a:r>
            <a:endParaRPr lang="en-US" sz="7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27" y="1066701"/>
            <a:ext cx="5353809" cy="53539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2E6544-D196-158F-B886-889FF80EF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213" y="6490252"/>
            <a:ext cx="1716157" cy="3677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31908" y="547191"/>
            <a:ext cx="1223237" cy="244376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75BAE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28347" y="595412"/>
            <a:ext cx="1639946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&amp; IMPACT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31908" y="848816"/>
            <a:ext cx="6355993" cy="52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Team: the clove mix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31908" y="1672927"/>
            <a:ext cx="3088503" cy="5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4150" dirty="0"/>
          </a:p>
        </p:txBody>
      </p:sp>
      <p:sp>
        <p:nvSpPr>
          <p:cNvPr id="7" name="Text 4"/>
          <p:cNvSpPr/>
          <p:nvPr/>
        </p:nvSpPr>
        <p:spPr>
          <a:xfrm>
            <a:off x="631908" y="2391271"/>
            <a:ext cx="3088503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Team Members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31908" y="2741712"/>
            <a:ext cx="308850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M.Tech, TransOrg AgentIQ Datathon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899398" y="1672927"/>
            <a:ext cx="3088503" cy="5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20K</a:t>
            </a:r>
            <a:endParaRPr lang="en-US" sz="4150" dirty="0"/>
          </a:p>
        </p:txBody>
      </p:sp>
      <p:sp>
        <p:nvSpPr>
          <p:cNvPr id="10" name="Text 7"/>
          <p:cNvSpPr/>
          <p:nvPr/>
        </p:nvSpPr>
        <p:spPr>
          <a:xfrm>
            <a:off x="3899398" y="2391271"/>
            <a:ext cx="3088503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Transactions Processed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3899398" y="2741712"/>
            <a:ext cx="308850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Cleaned, labelled, and analytics-ready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265603" y="3351609"/>
            <a:ext cx="3088503" cy="530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</a:t>
            </a:r>
            <a:endParaRPr lang="en-US" sz="4150" dirty="0"/>
          </a:p>
        </p:txBody>
      </p:sp>
      <p:sp>
        <p:nvSpPr>
          <p:cNvPr id="13" name="Text 10"/>
          <p:cNvSpPr/>
          <p:nvPr/>
        </p:nvSpPr>
        <p:spPr>
          <a:xfrm>
            <a:off x="2265603" y="4069953"/>
            <a:ext cx="3088503" cy="264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KPIs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2265603" y="4420394"/>
            <a:ext cx="3088503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Documented, sourced, and owned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1908" y="4824611"/>
            <a:ext cx="635599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messy, real-world UPI dataset → a single, trustworthy source of truth. Usable by analysts via Power BI and by anyone via plain-English chat.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31908" y="5472013"/>
            <a:ext cx="6355993" cy="838795"/>
          </a:xfrm>
          <a:prstGeom prst="roundRect">
            <a:avLst>
              <a:gd name="adj" fmla="val 28756"/>
            </a:avLst>
          </a:prstGeom>
          <a:solidFill>
            <a:srgbClr val="D4E9F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39" y="5679777"/>
            <a:ext cx="200913" cy="1607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54282" y="5655370"/>
            <a:ext cx="567288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Work: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Real fraud-scoring model · Live data refresh · Automated alerting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583</Words>
  <Application>Microsoft Macintosh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</vt:lpstr>
      <vt:lpstr>Montserrat Bold</vt:lpstr>
      <vt:lpstr>Barlow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Asuna Asuna</cp:lastModifiedBy>
  <cp:revision>2</cp:revision>
  <dcterms:created xsi:type="dcterms:W3CDTF">2026-09-16T12:47:26Z</dcterms:created>
  <dcterms:modified xsi:type="dcterms:W3CDTF">2026-09-16T12:55:35Z</dcterms:modified>
</cp:coreProperties>
</file>