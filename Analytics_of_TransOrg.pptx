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introduce yourself. Set up the problem in one line: UPI payments generate huge volumes of transaction data, and hidden inside it are fraud patterns, risky merchants, and unresolved disputes. This project builds one clean data pipeline and three different ways to explore it — a cleaning stage, a live Power BI dashboard, and a natural-language chatbot. Preview the agenda using the three chips on screen: Data Cleaning, Power BI Dashboard, Chatbot Agent — that's the structure the rest of the deck follows, two slides per section. Keep this slide short, under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starting point: we did not get a clean dataset. We got four real-world-style files with inconsistent IDs, currency formats and timestamps — 20,400 transactions, 36,400 KYC records, 6,210 merchants, and 2,884 chargeback/dispute records. The goal was to turn that mess into one reliable source of truth that every downstream chart and answer draws from — so a number on the dashboard always matches what the chatbot says. Walk through the three things we built, in order: the cleaning pipeline (never silently drops a row — flags what it can't fix instead), the Power BI dashboard (4 pages, 30+ DAX measures, scoped slicers), and the chatbot (plain-English questions, grounded in real read-only SQL). This sets up the three sections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slide — point out that there is exactly one cleaning pipeline (clean_pipeline.py) and everything downstream reads from its output, never from the raw files directly. Walk left to right: raw source files go through clean_pipeline.py and come out as one cleaned star schema (four shared tables). From there it fans out to three independent consumers — an offline HTML dashboard, the Power BI report, and the text-to-SQL chatbot — each built by its own script, but all reading the identical cleaned CSVs. Emphasize the single-source-of-truth point: because everything reads the same cleaned tables, the dashboard, Power BI, and chatbot can never disagree with each other. Close on the italic line: nothing is silently dropped — unrecoverable values are flagged with boolean columns instead of being deleted. That's the philosophy that carries into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 pause here. Say: before any dashboard or chatbot can be trusted, the underlying data has to be trustworthy first. This section covers exactly what "cleaning" meant in practice for this dataset: four genuinely messy source files (transactions, KYC records, merchants master, chargebacks) with inconsistent ID formats, currency formats, six-plus different timestamp formats, and PAN/Aadhaar identifiers that needed masking. Tell the audience the next slide lists the specific parameters/rules the pipeline applies — that's the technical meat of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parameters one at a time — these are the actual rules clean_pipeline.py applies, not a generic checklist: (1) ID normalization + dedup — reconciles user/merchant/transaction IDs across all four files and removes duplicate rows. (2) Currency/amount parsing — handles mixed formats (rupee symbol, commas, decimals) into one consistent numeric field. (3) Six-plus timestamp formats — every date/time variant across the raw files gets normalized to one ISO format so joins and trend charts work. (4) PAN/Aadhaar masking — sensitive KYC identifiers are masked on ingest and never exposed in the published cleaned tables — call this out as a privacy/compliance point. (5) Foreign-key validation — this is the key design decision: every foreign key gets a *_valid_fk boolean flag, and unmatched rows are KEPT and flagged, never silently dropped. (6) Category/status normalization — merchant categories and transaction statuses are mapped to one controlled vocabulary so filters and groupings are consistent. Finish on the result line: 28,920 clean customers, 4,343 merchants, 20,000 transactions, 2,800 chargebacks — and be upfront that only 32% of transactions matched a KYC record. Frame that gap as a flagged, visible finding, not a hidden flaw — it's actually one of the more interesting data-quality insights to highlight.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Say: with clean data in hand, the second deliverable is a native Power BI report built directly on that star schema — 30+ DAX measures across four report pages. Make the design point explicit: each page has its OWN slicers scoped to the questions that page answers, rather than one giant shared filter panel that gets overwhelming. That's a deliberate UX decision worth calling out. Next slide breaks down the four pages and the KPI categories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four report pages left to right, naming each page's scoped filters: Overview (filters: Date, Merchant Category, Status, UTR) — the headline KPI cards and trend charts, the starting point for any session. Fraud &amp; Dispute Analysis (filters: Delay bucket, Resolution, Channel) — category breakdowns for how disputes get resolved and how long they take. Customer Risk &amp; Data Quality (filters: KYC status, Risk segment) — ranked tables surfacing data-quality and risk issues. Fraud-Ring Spotlight (filters: Merchant category/status) — one-click insight flags built specifically to surface merchants and users that an averages-only view would hide — call this one out as the most "investigative" page. Then point to the five KPI category chips underneath — Volume &amp; Value, Status Rates, Chargebacks, Risk, KYC &amp; Join Integrity — these are the 30+ DAX measures grouped into families. Close on the single-source-of-truth point: compute_metrics.py (Python) and the DAX measures both read the identical cleaned tables, so the dashboard, Power BI, and the chatbot never disagree on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Say: the third way to explore this data is by just asking it a question in plain English. This is a text-to-SQL agent, not a generic chatbot — every answer is backed by a real, read-only SQL query against the same cleaned tables from section one. Set up the two-layer design: 21 hand-vetted local templates answer common questions instantly, for free, with zero network calls; anything outside that falls back to an OpenRouter LLM call that plans the SQL. Both paths are gated by the same safety guardrail before anything touches the database. Next slide walks through that flow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diagram left to right: a user types a question into the chat widget -&gt; match_intent() checks it against 21 local SQL templates -&gt; if nothing matches, it falls back to OpenRouter to plan the SQL -&gt; either path's SQL is checked by the is_read_only() guardrail, highlighted in orange because it's the single highest-risk point in the system, especially for LLM-generated SQL -&gt; only then does it become a real, grounded answer. Explain "why templates first" (left column): zero cost, zero latency, zero network call since it's pure SQLite; every template is hand-vetted so answers are reproducible; the LLM (OpenRouter, model openai/gpt-4o-mini) only has to earn its keep on genuinely novel questions the 21 templates don't cover. Point to the two stat callouts on the right: 21 local templates cover every question in the dataset notes; and 2 LLM calls happen per fallback question — one to plan the SQL, one to summarize the real result rows in plain English, so the answer is never just a guess. Close on the safety point: the exact same is_read_only() guardrail applies to BOTH the hand-vetted templates and the LLM-generated SQL — a query that fails is refused outright, never silently executed. This is the line to use if anyone asks "how do you stop the LLM from doing something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Briefly recap the three deliverables in one breath: a cleaning pipeline that never silently drops data, a Power BI dashboard with 4 scoped report pages, and a chatbot that answers in plain English grounded in real SQL — all reading the exact same cleaned tables, so nothing ever disagrees. Thank the audience/judges and open the floor for questions. If asked for a live demo, the site link and the workflow diagrams (click-to-reveal ER diagrams) are good places to jump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869680" y="-2011680"/>
            <a:ext cx="5669280" cy="5669280"/>
          </a:xfrm>
          <a:prstGeom prst="ellipse">
            <a:avLst/>
          </a:prstGeom>
          <a:solidFill>
            <a:srgbClr val="1C7293">
              <a:alpha val="10000"/>
            </a:srgbClr>
          </a:solidFill>
          <a:ln/>
        </p:spPr>
      </p:sp>
      <p:sp>
        <p:nvSpPr>
          <p:cNvPr id="3" name="Shape 1"/>
          <p:cNvSpPr/>
          <p:nvPr/>
        </p:nvSpPr>
        <p:spPr>
          <a:xfrm>
            <a:off x="9875520" y="3291840"/>
            <a:ext cx="4023360" cy="4023360"/>
          </a:xfrm>
          <a:prstGeom prst="ellipse">
            <a:avLst/>
          </a:prstGeom>
          <a:solidFill>
            <a:srgbClr val="21C6A8">
              <a:alpha val="10000"/>
            </a:srgbClr>
          </a:solidFill>
          <a:ln/>
        </p:spPr>
      </p:sp>
      <p:sp>
        <p:nvSpPr>
          <p:cNvPr id="4" name="Shape 2"/>
          <p:cNvSpPr/>
          <p:nvPr/>
        </p:nvSpPr>
        <p:spPr>
          <a:xfrm>
            <a:off x="-1463040" y="4206240"/>
            <a:ext cx="3291840" cy="3291840"/>
          </a:xfrm>
          <a:prstGeom prst="ellipse">
            <a:avLst/>
          </a:prstGeom>
          <a:solidFill>
            <a:srgbClr val="1C7293">
              <a:alpha val="8000"/>
            </a:srgbClr>
          </a:solidFill>
          <a:ln/>
        </p:spPr>
      </p:sp>
      <p:sp>
        <p:nvSpPr>
          <p:cNvPr id="5" name="Text 3"/>
          <p:cNvSpPr txBox="1"/>
          <p:nvPr/>
        </p:nvSpPr>
        <p:spPr>
          <a:xfrm>
            <a:off x="822960" y="1965960"/>
            <a:ext cx="9601200" cy="411480"/>
          </a:xfrm>
          <a:prstGeom prst="rect">
            <a:avLst/>
          </a:prstGeom>
          <a:noFill/>
          <a:ln/>
        </p:spPr>
        <p:txBody>
          <a:bodyPr wrap="square" lIns="0" tIns="0" rIns="0" bIns="0" rtlCol="0" anchor="ctr"/>
          <a:lstStyle/>
          <a:p>
            <a:pPr indent="0" marL="0">
              <a:buNone/>
            </a:pPr>
            <a:r>
              <a:rPr lang="en-US" sz="1400" b="1" spc="300" kern="0" dirty="0">
                <a:solidFill>
                  <a:srgbClr val="1C7293"/>
                </a:solidFill>
                <a:latin typeface="Calibri" pitchFamily="34" charset="0"/>
                <a:ea typeface="Calibri" pitchFamily="34" charset="-122"/>
                <a:cs typeface="Calibri" pitchFamily="34" charset="-120"/>
              </a:rPr>
              <a:t>UPI FRAUD &amp; MERCHANT RISK ANALYTICS</a:t>
            </a:r>
            <a:endParaRPr lang="en-US" sz="1400" dirty="0"/>
          </a:p>
        </p:txBody>
      </p:sp>
      <p:sp>
        <p:nvSpPr>
          <p:cNvPr id="6" name="Text 4"/>
          <p:cNvSpPr txBox="1"/>
          <p:nvPr/>
        </p:nvSpPr>
        <p:spPr>
          <a:xfrm>
            <a:off x="777240" y="2331720"/>
            <a:ext cx="10241280" cy="1554480"/>
          </a:xfrm>
          <a:prstGeom prst="rect">
            <a:avLst/>
          </a:prstGeom>
          <a:noFill/>
          <a:ln/>
        </p:spPr>
        <p:txBody>
          <a:bodyPr wrap="square" lIns="0" tIns="0" rIns="0" bIns="0" rtlCol="0" anchor="ctr"/>
          <a:lstStyle/>
          <a:p>
            <a:pPr indent="0" marL="0">
              <a:buNone/>
            </a:pPr>
            <a:r>
              <a:rPr lang="en-US" sz="5000" b="1" dirty="0">
                <a:solidFill>
                  <a:srgbClr val="0B3D5C"/>
                </a:solidFill>
                <a:latin typeface="Cambria" pitchFamily="34" charset="0"/>
                <a:ea typeface="Cambria" pitchFamily="34" charset="-122"/>
                <a:cs typeface="Cambria" pitchFamily="34" charset="-120"/>
              </a:rPr>
              <a:t>Analytics of TransOrg</a:t>
            </a:r>
            <a:endParaRPr lang="en-US" sz="5000" dirty="0"/>
          </a:p>
        </p:txBody>
      </p:sp>
      <p:sp>
        <p:nvSpPr>
          <p:cNvPr id="7" name="Text 5"/>
          <p:cNvSpPr txBox="1"/>
          <p:nvPr/>
        </p:nvSpPr>
        <p:spPr>
          <a:xfrm>
            <a:off x="822960" y="3703320"/>
            <a:ext cx="8412480" cy="822960"/>
          </a:xfrm>
          <a:prstGeom prst="rect">
            <a:avLst/>
          </a:prstGeom>
          <a:noFill/>
          <a:ln/>
        </p:spPr>
        <p:txBody>
          <a:bodyPr wrap="square" lIns="0" tIns="0" rIns="0" bIns="0" rtlCol="0" anchor="ctr"/>
          <a:lstStyle/>
          <a:p>
            <a:pPr indent="0" marL="0">
              <a:lnSpc>
                <a:spcPct val="130000"/>
              </a:lnSpc>
              <a:buNone/>
            </a:pPr>
            <a:r>
              <a:rPr lang="en-US" sz="1500" dirty="0">
                <a:solidFill>
                  <a:srgbClr val="5B6B76"/>
                </a:solidFill>
                <a:latin typeface="Calibri" pitchFamily="34" charset="0"/>
                <a:ea typeface="Calibri" pitchFamily="34" charset="-122"/>
                <a:cs typeface="Calibri" pitchFamily="34" charset="-120"/>
              </a:rPr>
              <a:t>From messy raw payment files to a live dashboard and a natural-language chat assistant — one clean pipeline, three ways to explore the data.</a:t>
            </a:r>
            <a:endParaRPr lang="en-US" sz="1500" dirty="0"/>
          </a:p>
        </p:txBody>
      </p:sp>
      <p:sp>
        <p:nvSpPr>
          <p:cNvPr id="8" name="Shape 6"/>
          <p:cNvSpPr/>
          <p:nvPr/>
        </p:nvSpPr>
        <p:spPr>
          <a:xfrm>
            <a:off x="822960" y="4892040"/>
            <a:ext cx="1275588" cy="384048"/>
          </a:xfrm>
          <a:prstGeom prst="roundRect">
            <a:avLst>
              <a:gd name="adj" fmla="val 50000"/>
            </a:avLst>
          </a:prstGeom>
          <a:solidFill>
            <a:srgbClr val="F4F8FA"/>
          </a:solidFill>
          <a:ln w="12700">
            <a:solidFill>
              <a:srgbClr val="1C7293"/>
            </a:solidFill>
            <a:prstDash val="solid"/>
          </a:ln>
        </p:spPr>
      </p:sp>
      <p:sp>
        <p:nvSpPr>
          <p:cNvPr id="9" name="Text 7"/>
          <p:cNvSpPr txBox="1"/>
          <p:nvPr/>
        </p:nvSpPr>
        <p:spPr>
          <a:xfrm>
            <a:off x="822960" y="4892040"/>
            <a:ext cx="1275588" cy="384048"/>
          </a:xfrm>
          <a:prstGeom prst="rect">
            <a:avLst/>
          </a:prstGeom>
          <a:noFill/>
          <a:ln/>
        </p:spPr>
        <p:txBody>
          <a:bodyPr wrap="square" lIns="0" tIns="0" rIns="0" bIns="0" rtlCol="0" anchor="ctr"/>
          <a:lstStyle/>
          <a:p>
            <a:pPr algn="ctr" indent="0" marL="0">
              <a:buNone/>
            </a:pPr>
            <a:r>
              <a:rPr lang="en-US" sz="1150" b="1" dirty="0">
                <a:solidFill>
                  <a:srgbClr val="0B3D5C"/>
                </a:solidFill>
                <a:latin typeface="Calibri" pitchFamily="34" charset="0"/>
                <a:ea typeface="Calibri" pitchFamily="34" charset="-122"/>
                <a:cs typeface="Calibri" pitchFamily="34" charset="-120"/>
              </a:rPr>
              <a:t>Data Cleaning</a:t>
            </a:r>
            <a:endParaRPr lang="en-US" sz="1150" dirty="0"/>
          </a:p>
        </p:txBody>
      </p:sp>
      <p:sp>
        <p:nvSpPr>
          <p:cNvPr id="10" name="Shape 8"/>
          <p:cNvSpPr/>
          <p:nvPr/>
        </p:nvSpPr>
        <p:spPr>
          <a:xfrm>
            <a:off x="2299716" y="4892040"/>
            <a:ext cx="1709928" cy="384048"/>
          </a:xfrm>
          <a:prstGeom prst="roundRect">
            <a:avLst>
              <a:gd name="adj" fmla="val 50000"/>
            </a:avLst>
          </a:prstGeom>
          <a:solidFill>
            <a:srgbClr val="F4F8FA"/>
          </a:solidFill>
          <a:ln w="12700">
            <a:solidFill>
              <a:srgbClr val="1C7293"/>
            </a:solidFill>
            <a:prstDash val="solid"/>
          </a:ln>
        </p:spPr>
      </p:sp>
      <p:sp>
        <p:nvSpPr>
          <p:cNvPr id="11" name="Text 9"/>
          <p:cNvSpPr txBox="1"/>
          <p:nvPr/>
        </p:nvSpPr>
        <p:spPr>
          <a:xfrm>
            <a:off x="2299716" y="4892040"/>
            <a:ext cx="1709928" cy="384048"/>
          </a:xfrm>
          <a:prstGeom prst="rect">
            <a:avLst/>
          </a:prstGeom>
          <a:noFill/>
          <a:ln/>
        </p:spPr>
        <p:txBody>
          <a:bodyPr wrap="square" lIns="0" tIns="0" rIns="0" bIns="0" rtlCol="0" anchor="ctr"/>
          <a:lstStyle/>
          <a:p>
            <a:pPr algn="ctr" indent="0" marL="0">
              <a:buNone/>
            </a:pPr>
            <a:r>
              <a:rPr lang="en-US" sz="1150" b="1" dirty="0">
                <a:solidFill>
                  <a:srgbClr val="0B3D5C"/>
                </a:solidFill>
                <a:latin typeface="Calibri" pitchFamily="34" charset="0"/>
                <a:ea typeface="Calibri" pitchFamily="34" charset="-122"/>
                <a:cs typeface="Calibri" pitchFamily="34" charset="-120"/>
              </a:rPr>
              <a:t>Power BI Dashboard</a:t>
            </a:r>
            <a:endParaRPr lang="en-US" sz="1150" dirty="0"/>
          </a:p>
        </p:txBody>
      </p:sp>
      <p:sp>
        <p:nvSpPr>
          <p:cNvPr id="12" name="Shape 10"/>
          <p:cNvSpPr/>
          <p:nvPr/>
        </p:nvSpPr>
        <p:spPr>
          <a:xfrm>
            <a:off x="4210812" y="4892040"/>
            <a:ext cx="1275588" cy="384048"/>
          </a:xfrm>
          <a:prstGeom prst="roundRect">
            <a:avLst>
              <a:gd name="adj" fmla="val 50000"/>
            </a:avLst>
          </a:prstGeom>
          <a:solidFill>
            <a:srgbClr val="F4F8FA"/>
          </a:solidFill>
          <a:ln w="12700">
            <a:solidFill>
              <a:srgbClr val="1C7293"/>
            </a:solidFill>
            <a:prstDash val="solid"/>
          </a:ln>
        </p:spPr>
      </p:sp>
      <p:sp>
        <p:nvSpPr>
          <p:cNvPr id="13" name="Text 11"/>
          <p:cNvSpPr txBox="1"/>
          <p:nvPr/>
        </p:nvSpPr>
        <p:spPr>
          <a:xfrm>
            <a:off x="4210812" y="4892040"/>
            <a:ext cx="1275588" cy="384048"/>
          </a:xfrm>
          <a:prstGeom prst="rect">
            <a:avLst/>
          </a:prstGeom>
          <a:noFill/>
          <a:ln/>
        </p:spPr>
        <p:txBody>
          <a:bodyPr wrap="square" lIns="0" tIns="0" rIns="0" bIns="0" rtlCol="0" anchor="ctr"/>
          <a:lstStyle/>
          <a:p>
            <a:pPr algn="ctr" indent="0" marL="0">
              <a:buNone/>
            </a:pPr>
            <a:r>
              <a:rPr lang="en-US" sz="1150" b="1" dirty="0">
                <a:solidFill>
                  <a:srgbClr val="0B3D5C"/>
                </a:solidFill>
                <a:latin typeface="Calibri" pitchFamily="34" charset="0"/>
                <a:ea typeface="Calibri" pitchFamily="34" charset="-122"/>
                <a:cs typeface="Calibri" pitchFamily="34" charset="-120"/>
              </a:rPr>
              <a:t>Chatbot Agent</a:t>
            </a:r>
            <a:endParaRPr lang="en-US" sz="1150" dirty="0"/>
          </a:p>
        </p:txBody>
      </p:sp>
      <p:sp>
        <p:nvSpPr>
          <p:cNvPr id="14" name="Text 12"/>
          <p:cNvSpPr txBox="1"/>
          <p:nvPr/>
        </p:nvSpPr>
        <p:spPr>
          <a:xfrm>
            <a:off x="822960" y="6172200"/>
            <a:ext cx="5486400" cy="320040"/>
          </a:xfrm>
          <a:prstGeom prst="rect">
            <a:avLst/>
          </a:prstGeom>
          <a:noFill/>
          <a:ln/>
        </p:spPr>
        <p:txBody>
          <a:bodyPr wrap="square" lIns="0" tIns="0" rIns="0" bIns="0" rtlCol="0" anchor="ctr"/>
          <a:lstStyle/>
          <a:p>
            <a:pPr indent="0" marL="0">
              <a:buNone/>
            </a:pPr>
            <a:r>
              <a:rPr lang="en-US" sz="1150" dirty="0">
                <a:solidFill>
                  <a:srgbClr val="5B6B76"/>
                </a:solidFill>
                <a:latin typeface="Calibri" pitchFamily="34" charset="0"/>
                <a:ea typeface="Calibri" pitchFamily="34" charset="-122"/>
                <a:cs typeface="Calibri" pitchFamily="34" charset="-120"/>
              </a:rPr>
              <a:t>TransOrg AgentIQ Datathon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INTRODUCTION</a:t>
            </a:r>
            <a:endParaRPr lang="en-US" sz="1250" dirty="0"/>
          </a:p>
        </p:txBody>
      </p:sp>
      <p:sp>
        <p:nvSpPr>
          <p:cNvPr id="3" name="Text 1"/>
          <p:cNvSpPr txBox="1"/>
          <p:nvPr/>
        </p:nvSpPr>
        <p:spPr>
          <a:xfrm>
            <a:off x="640080" y="804672"/>
            <a:ext cx="9875520" cy="777240"/>
          </a:xfrm>
          <a:prstGeom prst="rect">
            <a:avLst/>
          </a:prstGeom>
          <a:noFill/>
          <a:ln/>
        </p:spPr>
        <p:txBody>
          <a:bodyPr wrap="square" lIns="0" tIns="0" rIns="0" bIns="0" rtlCol="0" anchor="ctr"/>
          <a:lstStyle/>
          <a:p>
            <a:pPr indent="0" marL="0">
              <a:buNone/>
            </a:pPr>
            <a:r>
              <a:rPr lang="en-US" sz="2800" b="1" dirty="0">
                <a:solidFill>
                  <a:srgbClr val="0B3D5C"/>
                </a:solidFill>
                <a:latin typeface="Cambria" pitchFamily="34" charset="0"/>
                <a:ea typeface="Cambria" pitchFamily="34" charset="-122"/>
                <a:cs typeface="Cambria" pitchFamily="34" charset="-120"/>
              </a:rPr>
              <a:t>Turning UPI payment noise into trustworthy answers</a:t>
            </a:r>
            <a:endParaRPr lang="en-US" sz="2800" dirty="0"/>
          </a:p>
        </p:txBody>
      </p:sp>
      <p:sp>
        <p:nvSpPr>
          <p:cNvPr id="4" name="Text 2"/>
          <p:cNvSpPr txBox="1"/>
          <p:nvPr/>
        </p:nvSpPr>
        <p:spPr>
          <a:xfrm>
            <a:off x="640080" y="1600200"/>
            <a:ext cx="7863840" cy="914400"/>
          </a:xfrm>
          <a:prstGeom prst="rect">
            <a:avLst/>
          </a:prstGeom>
          <a:noFill/>
          <a:ln/>
        </p:spPr>
        <p:txBody>
          <a:bodyPr wrap="square" lIns="0" tIns="0" rIns="0" bIns="0" rtlCol="0" anchor="ctr"/>
          <a:lstStyle/>
          <a:p>
            <a:pPr indent="0" marL="0">
              <a:lnSpc>
                <a:spcPct val="130000"/>
              </a:lnSpc>
              <a:buNone/>
            </a:pPr>
            <a:r>
              <a:rPr lang="en-US" sz="1350" dirty="0">
                <a:solidFill>
                  <a:srgbClr val="5B6B76"/>
                </a:solidFill>
                <a:latin typeface="Calibri" pitchFamily="34" charset="0"/>
                <a:ea typeface="Calibri" pitchFamily="34" charset="-122"/>
                <a:cs typeface="Calibri" pitchFamily="34" charset="-120"/>
              </a:rPr>
              <a:t>This project digs through UPI payments to spot fraud patterns, risky merchants, and customer disputes before they turn into bigger problems — starting from a messy, real-world-style dataset and turning it into one reliable source of truth behind every chart and number.</a:t>
            </a:r>
            <a:endParaRPr lang="en-US" sz="1350" dirty="0"/>
          </a:p>
        </p:txBody>
      </p:sp>
      <p:sp>
        <p:nvSpPr>
          <p:cNvPr id="5" name="Shape 3"/>
          <p:cNvSpPr/>
          <p:nvPr/>
        </p:nvSpPr>
        <p:spPr>
          <a:xfrm>
            <a:off x="640080" y="2697480"/>
            <a:ext cx="2606040" cy="1325880"/>
          </a:xfrm>
          <a:prstGeom prst="roundRect">
            <a:avLst>
              <a:gd name="adj" fmla="val 6897"/>
            </a:avLst>
          </a:prstGeom>
          <a:solidFill>
            <a:srgbClr val="F4F8FA"/>
          </a:solidFill>
          <a:ln w="12700">
            <a:solidFill>
              <a:srgbClr val="DCE6EA"/>
            </a:solidFill>
            <a:prstDash val="solid"/>
          </a:ln>
        </p:spPr>
      </p:sp>
      <p:sp>
        <p:nvSpPr>
          <p:cNvPr id="6" name="Text 4"/>
          <p:cNvSpPr txBox="1"/>
          <p:nvPr/>
        </p:nvSpPr>
        <p:spPr>
          <a:xfrm>
            <a:off x="822960" y="2834640"/>
            <a:ext cx="2240280" cy="548640"/>
          </a:xfrm>
          <a:prstGeom prst="rect">
            <a:avLst/>
          </a:prstGeom>
          <a:noFill/>
          <a:ln/>
        </p:spPr>
        <p:txBody>
          <a:bodyPr wrap="square" lIns="0" tIns="0" rIns="0" bIns="0" rtlCol="0" anchor="ctr"/>
          <a:lstStyle/>
          <a:p>
            <a:pPr indent="0" marL="0">
              <a:buNone/>
            </a:pPr>
            <a:r>
              <a:rPr lang="en-US" sz="2500" b="1" dirty="0">
                <a:solidFill>
                  <a:srgbClr val="0B3D5C"/>
                </a:solidFill>
                <a:latin typeface="Cambria" pitchFamily="34" charset="0"/>
                <a:ea typeface="Cambria" pitchFamily="34" charset="-122"/>
                <a:cs typeface="Cambria" pitchFamily="34" charset="-120"/>
              </a:rPr>
              <a:t>20,400</a:t>
            </a:r>
            <a:endParaRPr lang="en-US" sz="2500" dirty="0"/>
          </a:p>
        </p:txBody>
      </p:sp>
      <p:sp>
        <p:nvSpPr>
          <p:cNvPr id="7" name="Text 5"/>
          <p:cNvSpPr txBox="1"/>
          <p:nvPr/>
        </p:nvSpPr>
        <p:spPr>
          <a:xfrm>
            <a:off x="822960" y="3364992"/>
            <a:ext cx="2240280" cy="548640"/>
          </a:xfrm>
          <a:prstGeom prst="rect">
            <a:avLst/>
          </a:prstGeom>
          <a:noFill/>
          <a:ln/>
        </p:spPr>
        <p:txBody>
          <a:bodyPr wrap="square" lIns="0" tIns="0" rIns="0" bIns="0" rtlCol="0" anchor="ctr"/>
          <a:lstStyle/>
          <a:p>
            <a:pPr indent="0" marL="0">
              <a:buNone/>
            </a:pPr>
            <a:r>
              <a:rPr lang="en-US" sz="1150" dirty="0">
                <a:solidFill>
                  <a:srgbClr val="5B6B76"/>
                </a:solidFill>
                <a:latin typeface="Calibri" pitchFamily="34" charset="0"/>
                <a:ea typeface="Calibri" pitchFamily="34" charset="-122"/>
                <a:cs typeface="Calibri" pitchFamily="34" charset="-120"/>
              </a:rPr>
              <a:t>UPI transactions</a:t>
            </a:r>
            <a:endParaRPr lang="en-US" sz="1150" dirty="0"/>
          </a:p>
        </p:txBody>
      </p:sp>
      <p:sp>
        <p:nvSpPr>
          <p:cNvPr id="8" name="Shape 6"/>
          <p:cNvSpPr/>
          <p:nvPr/>
        </p:nvSpPr>
        <p:spPr>
          <a:xfrm>
            <a:off x="3502152" y="2697480"/>
            <a:ext cx="2606040" cy="1325880"/>
          </a:xfrm>
          <a:prstGeom prst="roundRect">
            <a:avLst>
              <a:gd name="adj" fmla="val 6897"/>
            </a:avLst>
          </a:prstGeom>
          <a:solidFill>
            <a:srgbClr val="F4F8FA"/>
          </a:solidFill>
          <a:ln w="12700">
            <a:solidFill>
              <a:srgbClr val="DCE6EA"/>
            </a:solidFill>
            <a:prstDash val="solid"/>
          </a:ln>
        </p:spPr>
      </p:sp>
      <p:sp>
        <p:nvSpPr>
          <p:cNvPr id="9" name="Text 7"/>
          <p:cNvSpPr txBox="1"/>
          <p:nvPr/>
        </p:nvSpPr>
        <p:spPr>
          <a:xfrm>
            <a:off x="3685032" y="2834640"/>
            <a:ext cx="2240280" cy="548640"/>
          </a:xfrm>
          <a:prstGeom prst="rect">
            <a:avLst/>
          </a:prstGeom>
          <a:noFill/>
          <a:ln/>
        </p:spPr>
        <p:txBody>
          <a:bodyPr wrap="square" lIns="0" tIns="0" rIns="0" bIns="0" rtlCol="0" anchor="ctr"/>
          <a:lstStyle/>
          <a:p>
            <a:pPr indent="0" marL="0">
              <a:buNone/>
            </a:pPr>
            <a:r>
              <a:rPr lang="en-US" sz="2500" b="1" dirty="0">
                <a:solidFill>
                  <a:srgbClr val="0B3D5C"/>
                </a:solidFill>
                <a:latin typeface="Cambria" pitchFamily="34" charset="0"/>
                <a:ea typeface="Cambria" pitchFamily="34" charset="-122"/>
                <a:cs typeface="Cambria" pitchFamily="34" charset="-120"/>
              </a:rPr>
              <a:t>36,400</a:t>
            </a:r>
            <a:endParaRPr lang="en-US" sz="2500" dirty="0"/>
          </a:p>
        </p:txBody>
      </p:sp>
      <p:sp>
        <p:nvSpPr>
          <p:cNvPr id="10" name="Text 8"/>
          <p:cNvSpPr txBox="1"/>
          <p:nvPr/>
        </p:nvSpPr>
        <p:spPr>
          <a:xfrm>
            <a:off x="3685032" y="3364992"/>
            <a:ext cx="2240280" cy="548640"/>
          </a:xfrm>
          <a:prstGeom prst="rect">
            <a:avLst/>
          </a:prstGeom>
          <a:noFill/>
          <a:ln/>
        </p:spPr>
        <p:txBody>
          <a:bodyPr wrap="square" lIns="0" tIns="0" rIns="0" bIns="0" rtlCol="0" anchor="ctr"/>
          <a:lstStyle/>
          <a:p>
            <a:pPr indent="0" marL="0">
              <a:buNone/>
            </a:pPr>
            <a:r>
              <a:rPr lang="en-US" sz="1150" dirty="0">
                <a:solidFill>
                  <a:srgbClr val="5B6B76"/>
                </a:solidFill>
                <a:latin typeface="Calibri" pitchFamily="34" charset="0"/>
                <a:ea typeface="Calibri" pitchFamily="34" charset="-122"/>
                <a:cs typeface="Calibri" pitchFamily="34" charset="-120"/>
              </a:rPr>
              <a:t>KYC customer records</a:t>
            </a:r>
            <a:endParaRPr lang="en-US" sz="1150" dirty="0"/>
          </a:p>
        </p:txBody>
      </p:sp>
      <p:sp>
        <p:nvSpPr>
          <p:cNvPr id="11" name="Shape 9"/>
          <p:cNvSpPr/>
          <p:nvPr/>
        </p:nvSpPr>
        <p:spPr>
          <a:xfrm>
            <a:off x="6364224" y="2697480"/>
            <a:ext cx="2606040" cy="1325880"/>
          </a:xfrm>
          <a:prstGeom prst="roundRect">
            <a:avLst>
              <a:gd name="adj" fmla="val 6897"/>
            </a:avLst>
          </a:prstGeom>
          <a:solidFill>
            <a:srgbClr val="F4F8FA"/>
          </a:solidFill>
          <a:ln w="12700">
            <a:solidFill>
              <a:srgbClr val="DCE6EA"/>
            </a:solidFill>
            <a:prstDash val="solid"/>
          </a:ln>
        </p:spPr>
      </p:sp>
      <p:sp>
        <p:nvSpPr>
          <p:cNvPr id="12" name="Text 10"/>
          <p:cNvSpPr txBox="1"/>
          <p:nvPr/>
        </p:nvSpPr>
        <p:spPr>
          <a:xfrm>
            <a:off x="6547104" y="2834640"/>
            <a:ext cx="2240280" cy="548640"/>
          </a:xfrm>
          <a:prstGeom prst="rect">
            <a:avLst/>
          </a:prstGeom>
          <a:noFill/>
          <a:ln/>
        </p:spPr>
        <p:txBody>
          <a:bodyPr wrap="square" lIns="0" tIns="0" rIns="0" bIns="0" rtlCol="0" anchor="ctr"/>
          <a:lstStyle/>
          <a:p>
            <a:pPr indent="0" marL="0">
              <a:buNone/>
            </a:pPr>
            <a:r>
              <a:rPr lang="en-US" sz="2500" b="1" dirty="0">
                <a:solidFill>
                  <a:srgbClr val="0B3D5C"/>
                </a:solidFill>
                <a:latin typeface="Cambria" pitchFamily="34" charset="0"/>
                <a:ea typeface="Cambria" pitchFamily="34" charset="-122"/>
                <a:cs typeface="Cambria" pitchFamily="34" charset="-120"/>
              </a:rPr>
              <a:t>6,210</a:t>
            </a:r>
            <a:endParaRPr lang="en-US" sz="2500" dirty="0"/>
          </a:p>
        </p:txBody>
      </p:sp>
      <p:sp>
        <p:nvSpPr>
          <p:cNvPr id="13" name="Text 11"/>
          <p:cNvSpPr txBox="1"/>
          <p:nvPr/>
        </p:nvSpPr>
        <p:spPr>
          <a:xfrm>
            <a:off x="6547104" y="3364992"/>
            <a:ext cx="2240280" cy="548640"/>
          </a:xfrm>
          <a:prstGeom prst="rect">
            <a:avLst/>
          </a:prstGeom>
          <a:noFill/>
          <a:ln/>
        </p:spPr>
        <p:txBody>
          <a:bodyPr wrap="square" lIns="0" tIns="0" rIns="0" bIns="0" rtlCol="0" anchor="ctr"/>
          <a:lstStyle/>
          <a:p>
            <a:pPr indent="0" marL="0">
              <a:buNone/>
            </a:pPr>
            <a:r>
              <a:rPr lang="en-US" sz="1150" dirty="0">
                <a:solidFill>
                  <a:srgbClr val="5B6B76"/>
                </a:solidFill>
                <a:latin typeface="Calibri" pitchFamily="34" charset="0"/>
                <a:ea typeface="Calibri" pitchFamily="34" charset="-122"/>
                <a:cs typeface="Calibri" pitchFamily="34" charset="-120"/>
              </a:rPr>
              <a:t>Merchants master</a:t>
            </a:r>
            <a:endParaRPr lang="en-US" sz="1150" dirty="0"/>
          </a:p>
        </p:txBody>
      </p:sp>
      <p:sp>
        <p:nvSpPr>
          <p:cNvPr id="14" name="Shape 12"/>
          <p:cNvSpPr/>
          <p:nvPr/>
        </p:nvSpPr>
        <p:spPr>
          <a:xfrm>
            <a:off x="9226296" y="2697480"/>
            <a:ext cx="2606040" cy="1325880"/>
          </a:xfrm>
          <a:prstGeom prst="roundRect">
            <a:avLst>
              <a:gd name="adj" fmla="val 6897"/>
            </a:avLst>
          </a:prstGeom>
          <a:solidFill>
            <a:srgbClr val="F4F8FA"/>
          </a:solidFill>
          <a:ln w="12700">
            <a:solidFill>
              <a:srgbClr val="DCE6EA"/>
            </a:solidFill>
            <a:prstDash val="solid"/>
          </a:ln>
        </p:spPr>
      </p:sp>
      <p:sp>
        <p:nvSpPr>
          <p:cNvPr id="15" name="Text 13"/>
          <p:cNvSpPr txBox="1"/>
          <p:nvPr/>
        </p:nvSpPr>
        <p:spPr>
          <a:xfrm>
            <a:off x="9409176" y="2834640"/>
            <a:ext cx="2240280" cy="548640"/>
          </a:xfrm>
          <a:prstGeom prst="rect">
            <a:avLst/>
          </a:prstGeom>
          <a:noFill/>
          <a:ln/>
        </p:spPr>
        <p:txBody>
          <a:bodyPr wrap="square" lIns="0" tIns="0" rIns="0" bIns="0" rtlCol="0" anchor="ctr"/>
          <a:lstStyle/>
          <a:p>
            <a:pPr indent="0" marL="0">
              <a:buNone/>
            </a:pPr>
            <a:r>
              <a:rPr lang="en-US" sz="2500" b="1" dirty="0">
                <a:solidFill>
                  <a:srgbClr val="0B3D5C"/>
                </a:solidFill>
                <a:latin typeface="Cambria" pitchFamily="34" charset="0"/>
                <a:ea typeface="Cambria" pitchFamily="34" charset="-122"/>
                <a:cs typeface="Cambria" pitchFamily="34" charset="-120"/>
              </a:rPr>
              <a:t>2,884</a:t>
            </a:r>
            <a:endParaRPr lang="en-US" sz="2500" dirty="0"/>
          </a:p>
        </p:txBody>
      </p:sp>
      <p:sp>
        <p:nvSpPr>
          <p:cNvPr id="16" name="Text 14"/>
          <p:cNvSpPr txBox="1"/>
          <p:nvPr/>
        </p:nvSpPr>
        <p:spPr>
          <a:xfrm>
            <a:off x="9409176" y="3364992"/>
            <a:ext cx="2240280" cy="548640"/>
          </a:xfrm>
          <a:prstGeom prst="rect">
            <a:avLst/>
          </a:prstGeom>
          <a:noFill/>
          <a:ln/>
        </p:spPr>
        <p:txBody>
          <a:bodyPr wrap="square" lIns="0" tIns="0" rIns="0" bIns="0" rtlCol="0" anchor="ctr"/>
          <a:lstStyle/>
          <a:p>
            <a:pPr indent="0" marL="0">
              <a:buNone/>
            </a:pPr>
            <a:r>
              <a:rPr lang="en-US" sz="1150" dirty="0">
                <a:solidFill>
                  <a:srgbClr val="5B6B76"/>
                </a:solidFill>
                <a:latin typeface="Calibri" pitchFamily="34" charset="0"/>
                <a:ea typeface="Calibri" pitchFamily="34" charset="-122"/>
                <a:cs typeface="Calibri" pitchFamily="34" charset="-120"/>
              </a:rPr>
              <a:t>Chargeback / dispute records</a:t>
            </a:r>
            <a:endParaRPr lang="en-US" sz="1150" dirty="0"/>
          </a:p>
        </p:txBody>
      </p:sp>
      <p:sp>
        <p:nvSpPr>
          <p:cNvPr id="17" name="Text 15"/>
          <p:cNvSpPr txBox="1"/>
          <p:nvPr/>
        </p:nvSpPr>
        <p:spPr>
          <a:xfrm>
            <a:off x="640080" y="4343400"/>
            <a:ext cx="4572000" cy="365760"/>
          </a:xfrm>
          <a:prstGeom prst="rect">
            <a:avLst/>
          </a:prstGeom>
          <a:noFill/>
          <a:ln/>
        </p:spPr>
        <p:txBody>
          <a:bodyPr wrap="square" lIns="0" tIns="0" rIns="0" bIns="0" rtlCol="0" anchor="ctr"/>
          <a:lstStyle/>
          <a:p>
            <a:pPr indent="0" marL="0">
              <a:buNone/>
            </a:pPr>
            <a:r>
              <a:rPr lang="en-US" sz="1500" b="1" dirty="0">
                <a:solidFill>
                  <a:srgbClr val="0B3D5C"/>
                </a:solidFill>
                <a:latin typeface="Calibri" pitchFamily="34" charset="0"/>
                <a:ea typeface="Calibri" pitchFamily="34" charset="-122"/>
                <a:cs typeface="Calibri" pitchFamily="34" charset="-120"/>
              </a:rPr>
              <a:t>What we built</a:t>
            </a:r>
            <a:endParaRPr lang="en-US" sz="1500" dirty="0"/>
          </a:p>
        </p:txBody>
      </p:sp>
      <p:sp>
        <p:nvSpPr>
          <p:cNvPr id="18" name="Shape 16"/>
          <p:cNvSpPr/>
          <p:nvPr/>
        </p:nvSpPr>
        <p:spPr>
          <a:xfrm>
            <a:off x="640080" y="4800600"/>
            <a:ext cx="384048" cy="384048"/>
          </a:xfrm>
          <a:prstGeom prst="ellipse">
            <a:avLst/>
          </a:prstGeom>
          <a:solidFill>
            <a:srgbClr val="1C7293"/>
          </a:solidFill>
          <a:ln/>
        </p:spPr>
      </p:sp>
      <p:sp>
        <p:nvSpPr>
          <p:cNvPr id="19" name="Text 17"/>
          <p:cNvSpPr txBox="1"/>
          <p:nvPr/>
        </p:nvSpPr>
        <p:spPr>
          <a:xfrm>
            <a:off x="640080" y="4800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0" name="Text 18"/>
          <p:cNvSpPr txBox="1"/>
          <p:nvPr/>
        </p:nvSpPr>
        <p:spPr>
          <a:xfrm>
            <a:off x="1170432" y="4800600"/>
            <a:ext cx="9966960" cy="384048"/>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A cleaning pipeline  </a:t>
            </a:r>
            <a:pPr indent="0" marL="0">
              <a:buNone/>
            </a:pPr>
            <a:r>
              <a:rPr lang="en-US" sz="1250" dirty="0">
                <a:solidFill>
                  <a:srgbClr val="5B6B76"/>
                </a:solidFill>
                <a:latin typeface="Calibri" pitchFamily="34" charset="0"/>
                <a:ea typeface="Calibri" pitchFamily="34" charset="-122"/>
                <a:cs typeface="Calibri" pitchFamily="34" charset="-120"/>
              </a:rPr>
              <a:t>that standardizes every messy field and never silently drops a row</a:t>
            </a:r>
            <a:endParaRPr lang="en-US" sz="1250" dirty="0"/>
          </a:p>
        </p:txBody>
      </p:sp>
      <p:sp>
        <p:nvSpPr>
          <p:cNvPr id="21" name="Shape 19"/>
          <p:cNvSpPr/>
          <p:nvPr/>
        </p:nvSpPr>
        <p:spPr>
          <a:xfrm>
            <a:off x="640080" y="5330952"/>
            <a:ext cx="384048" cy="384048"/>
          </a:xfrm>
          <a:prstGeom prst="ellipse">
            <a:avLst/>
          </a:prstGeom>
          <a:solidFill>
            <a:srgbClr val="1C7293"/>
          </a:solidFill>
          <a:ln/>
        </p:spPr>
      </p:sp>
      <p:sp>
        <p:nvSpPr>
          <p:cNvPr id="22" name="Text 20"/>
          <p:cNvSpPr txBox="1"/>
          <p:nvPr/>
        </p:nvSpPr>
        <p:spPr>
          <a:xfrm>
            <a:off x="640080" y="53309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3" name="Text 21"/>
          <p:cNvSpPr txBox="1"/>
          <p:nvPr/>
        </p:nvSpPr>
        <p:spPr>
          <a:xfrm>
            <a:off x="1170432" y="5330952"/>
            <a:ext cx="9966960" cy="384048"/>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A live Power BI dashboard  </a:t>
            </a:r>
            <a:pPr indent="0" marL="0">
              <a:buNone/>
            </a:pPr>
            <a:r>
              <a:rPr lang="en-US" sz="1250" dirty="0">
                <a:solidFill>
                  <a:srgbClr val="5B6B76"/>
                </a:solidFill>
                <a:latin typeface="Calibri" pitchFamily="34" charset="0"/>
                <a:ea typeface="Calibri" pitchFamily="34" charset="-122"/>
                <a:cs typeface="Calibri" pitchFamily="34" charset="-120"/>
              </a:rPr>
              <a:t>with 4 report pages, 30+ DAX measures, and scoped slicers</a:t>
            </a:r>
            <a:endParaRPr lang="en-US" sz="1250" dirty="0"/>
          </a:p>
        </p:txBody>
      </p:sp>
      <p:sp>
        <p:nvSpPr>
          <p:cNvPr id="24" name="Shape 22"/>
          <p:cNvSpPr/>
          <p:nvPr/>
        </p:nvSpPr>
        <p:spPr>
          <a:xfrm>
            <a:off x="640080" y="5861304"/>
            <a:ext cx="384048" cy="384048"/>
          </a:xfrm>
          <a:prstGeom prst="ellipse">
            <a:avLst/>
          </a:prstGeom>
          <a:solidFill>
            <a:srgbClr val="1C7293"/>
          </a:solidFill>
          <a:ln/>
        </p:spPr>
      </p:sp>
      <p:sp>
        <p:nvSpPr>
          <p:cNvPr id="25" name="Text 23"/>
          <p:cNvSpPr txBox="1"/>
          <p:nvPr/>
        </p:nvSpPr>
        <p:spPr>
          <a:xfrm>
            <a:off x="640080" y="58613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4"/>
          <p:cNvSpPr txBox="1"/>
          <p:nvPr/>
        </p:nvSpPr>
        <p:spPr>
          <a:xfrm>
            <a:off x="1170432" y="5861304"/>
            <a:ext cx="9966960" cy="384048"/>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A text-to-SQL chatbot  </a:t>
            </a:r>
            <a:pPr indent="0" marL="0">
              <a:buNone/>
            </a:pPr>
            <a:r>
              <a:rPr lang="en-US" sz="1250" dirty="0">
                <a:solidFill>
                  <a:srgbClr val="5B6B76"/>
                </a:solidFill>
                <a:latin typeface="Calibri" pitchFamily="34" charset="0"/>
                <a:ea typeface="Calibri" pitchFamily="34" charset="-122"/>
                <a:cs typeface="Calibri" pitchFamily="34" charset="-120"/>
              </a:rPr>
              <a:t>that answers in plain English, grounded in real, read-only SQL</a:t>
            </a:r>
            <a:endParaRPr lang="en-US" sz="1250" dirty="0"/>
          </a:p>
        </p:txBody>
      </p:sp>
      <p:sp>
        <p:nvSpPr>
          <p:cNvPr id="27" name="Text 25"/>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5B6B76"/>
                </a:solidFill>
                <a:latin typeface="Calibri" pitchFamily="34" charset="0"/>
                <a:ea typeface="Calibri" pitchFamily="34" charset="-122"/>
                <a:cs typeface="Calibri" pitchFamily="34" charset="-120"/>
              </a:rPr>
              <a:t>Analytics of TransOrg</a:t>
            </a:r>
            <a:endParaRPr lang="en-US" sz="1000" dirty="0"/>
          </a:p>
        </p:txBody>
      </p:sp>
      <p:sp>
        <p:nvSpPr>
          <p:cNvPr id="28" name="Text 26"/>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PIPELINE</a:t>
            </a:r>
            <a:endParaRPr lang="en-US" sz="1250" dirty="0"/>
          </a:p>
        </p:txBody>
      </p:sp>
      <p:sp>
        <p:nvSpPr>
          <p:cNvPr id="3" name="Text 1"/>
          <p:cNvSpPr txBox="1"/>
          <p:nvPr/>
        </p:nvSpPr>
        <p:spPr>
          <a:xfrm>
            <a:off x="640080" y="804672"/>
            <a:ext cx="9875520" cy="640080"/>
          </a:xfrm>
          <a:prstGeom prst="rect">
            <a:avLst/>
          </a:prstGeom>
          <a:noFill/>
          <a:ln/>
        </p:spPr>
        <p:txBody>
          <a:bodyPr wrap="square" lIns="0" tIns="0" rIns="0" bIns="0" rtlCol="0" anchor="ctr"/>
          <a:lstStyle/>
          <a:p>
            <a:pPr indent="0" marL="0">
              <a:buNone/>
            </a:pPr>
            <a:r>
              <a:rPr lang="en-US" sz="2600" b="1" dirty="0">
                <a:solidFill>
                  <a:srgbClr val="0B3D5C"/>
                </a:solidFill>
                <a:latin typeface="Cambria" pitchFamily="34" charset="0"/>
                <a:ea typeface="Cambria" pitchFamily="34" charset="-122"/>
                <a:cs typeface="Cambria" pitchFamily="34" charset="-120"/>
              </a:rPr>
              <a:t>One pipeline, three independent consumers</a:t>
            </a:r>
            <a:endParaRPr lang="en-US" sz="2600" dirty="0"/>
          </a:p>
        </p:txBody>
      </p:sp>
      <p:sp>
        <p:nvSpPr>
          <p:cNvPr id="4" name="Text 2"/>
          <p:cNvSpPr txBox="1"/>
          <p:nvPr/>
        </p:nvSpPr>
        <p:spPr>
          <a:xfrm>
            <a:off x="640080" y="1444752"/>
            <a:ext cx="10515600" cy="548640"/>
          </a:xfrm>
          <a:prstGeom prst="rect">
            <a:avLst/>
          </a:prstGeom>
          <a:noFill/>
          <a:ln/>
        </p:spPr>
        <p:txBody>
          <a:bodyPr wrap="square" lIns="0" tIns="0" rIns="0" bIns="0" rtlCol="0" anchor="ctr"/>
          <a:lstStyle/>
          <a:p>
            <a:pPr indent="0" marL="0">
              <a:lnSpc>
                <a:spcPct val="125000"/>
              </a:lnSpc>
              <a:buNone/>
            </a:pPr>
            <a:r>
              <a:rPr lang="en-US" sz="1250" dirty="0">
                <a:solidFill>
                  <a:srgbClr val="5B6B76"/>
                </a:solidFill>
                <a:latin typeface="Calibri" pitchFamily="34" charset="0"/>
                <a:ea typeface="Calibri" pitchFamily="34" charset="-122"/>
                <a:cs typeface="Calibri" pitchFamily="34" charset="-120"/>
              </a:rPr>
              <a:t>One cleaning pipeline feeds three ways to explore the same data — the Power BI dashboard, and the chatbot — all reading the exact same cleaned CSVs, so there is only ever one source of truth.</a:t>
            </a:r>
            <a:endParaRPr lang="en-US" sz="1250" dirty="0"/>
          </a:p>
        </p:txBody>
      </p:sp>
      <p:sp>
        <p:nvSpPr>
          <p:cNvPr id="5" name="Shape 3"/>
          <p:cNvSpPr/>
          <p:nvPr/>
        </p:nvSpPr>
        <p:spPr>
          <a:xfrm>
            <a:off x="640080" y="2331720"/>
            <a:ext cx="1828800" cy="960120"/>
          </a:xfrm>
          <a:prstGeom prst="roundRect">
            <a:avLst>
              <a:gd name="adj" fmla="val 8571"/>
            </a:avLst>
          </a:prstGeom>
          <a:solidFill>
            <a:srgbClr val="F4F8FA"/>
          </a:solidFill>
          <a:ln w="12700">
            <a:solidFill>
              <a:srgbClr val="DCE6EA"/>
            </a:solidFill>
            <a:prstDash val="solid"/>
          </a:ln>
        </p:spPr>
      </p:sp>
      <p:sp>
        <p:nvSpPr>
          <p:cNvPr id="6" name="Shape 4"/>
          <p:cNvSpPr/>
          <p:nvPr/>
        </p:nvSpPr>
        <p:spPr>
          <a:xfrm>
            <a:off x="640080" y="2331720"/>
            <a:ext cx="82296" cy="960120"/>
          </a:xfrm>
          <a:prstGeom prst="roundRect">
            <a:avLst/>
          </a:prstGeom>
          <a:solidFill>
            <a:srgbClr val="5B6B76"/>
          </a:solidFill>
          <a:ln/>
        </p:spPr>
      </p:sp>
      <p:sp>
        <p:nvSpPr>
          <p:cNvPr id="7" name="Text 5"/>
          <p:cNvSpPr txBox="1"/>
          <p:nvPr/>
        </p:nvSpPr>
        <p:spPr>
          <a:xfrm>
            <a:off x="841248" y="2496312"/>
            <a:ext cx="1508760" cy="365760"/>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Raw source files</a:t>
            </a:r>
            <a:endParaRPr lang="en-US" sz="1250" dirty="0"/>
          </a:p>
        </p:txBody>
      </p:sp>
      <p:sp>
        <p:nvSpPr>
          <p:cNvPr id="8" name="Text 6"/>
          <p:cNvSpPr txBox="1"/>
          <p:nvPr/>
        </p:nvSpPr>
        <p:spPr>
          <a:xfrm>
            <a:off x="841248" y="2862072"/>
            <a:ext cx="1508760" cy="32004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CSV + JSON, 4 files</a:t>
            </a:r>
            <a:endParaRPr lang="en-US" sz="1050" dirty="0"/>
          </a:p>
        </p:txBody>
      </p:sp>
      <p:sp>
        <p:nvSpPr>
          <p:cNvPr id="9" name="Shape 7"/>
          <p:cNvSpPr/>
          <p:nvPr/>
        </p:nvSpPr>
        <p:spPr>
          <a:xfrm>
            <a:off x="2788920" y="2331720"/>
            <a:ext cx="1965960" cy="960120"/>
          </a:xfrm>
          <a:prstGeom prst="roundRect">
            <a:avLst>
              <a:gd name="adj" fmla="val 8571"/>
            </a:avLst>
          </a:prstGeom>
          <a:solidFill>
            <a:srgbClr val="F4F8FA"/>
          </a:solidFill>
          <a:ln w="12700">
            <a:solidFill>
              <a:srgbClr val="DCE6EA"/>
            </a:solidFill>
            <a:prstDash val="solid"/>
          </a:ln>
        </p:spPr>
      </p:sp>
      <p:sp>
        <p:nvSpPr>
          <p:cNvPr id="10" name="Shape 8"/>
          <p:cNvSpPr/>
          <p:nvPr/>
        </p:nvSpPr>
        <p:spPr>
          <a:xfrm>
            <a:off x="2788920" y="2331720"/>
            <a:ext cx="82296" cy="960120"/>
          </a:xfrm>
          <a:prstGeom prst="roundRect">
            <a:avLst/>
          </a:prstGeom>
          <a:solidFill>
            <a:srgbClr val="1C7293"/>
          </a:solidFill>
          <a:ln/>
        </p:spPr>
      </p:sp>
      <p:sp>
        <p:nvSpPr>
          <p:cNvPr id="11" name="Text 9"/>
          <p:cNvSpPr txBox="1"/>
          <p:nvPr/>
        </p:nvSpPr>
        <p:spPr>
          <a:xfrm>
            <a:off x="2990088" y="2496312"/>
            <a:ext cx="1645920" cy="365760"/>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clean_pipeline.py</a:t>
            </a:r>
            <a:endParaRPr lang="en-US" sz="1250" dirty="0"/>
          </a:p>
        </p:txBody>
      </p:sp>
      <p:sp>
        <p:nvSpPr>
          <p:cNvPr id="12" name="Text 10"/>
          <p:cNvSpPr txBox="1"/>
          <p:nvPr/>
        </p:nvSpPr>
        <p:spPr>
          <a:xfrm>
            <a:off x="2990088" y="2862072"/>
            <a:ext cx="1645920" cy="32004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standardize + validate</a:t>
            </a:r>
            <a:endParaRPr lang="en-US" sz="1050" dirty="0"/>
          </a:p>
        </p:txBody>
      </p:sp>
      <p:sp>
        <p:nvSpPr>
          <p:cNvPr id="13" name="Shape 11"/>
          <p:cNvSpPr/>
          <p:nvPr/>
        </p:nvSpPr>
        <p:spPr>
          <a:xfrm>
            <a:off x="5074920" y="2331720"/>
            <a:ext cx="1828800" cy="960120"/>
          </a:xfrm>
          <a:prstGeom prst="roundRect">
            <a:avLst>
              <a:gd name="adj" fmla="val 8571"/>
            </a:avLst>
          </a:prstGeom>
          <a:solidFill>
            <a:srgbClr val="F4F8FA"/>
          </a:solidFill>
          <a:ln w="12700">
            <a:solidFill>
              <a:srgbClr val="DCE6EA"/>
            </a:solidFill>
            <a:prstDash val="solid"/>
          </a:ln>
        </p:spPr>
      </p:sp>
      <p:sp>
        <p:nvSpPr>
          <p:cNvPr id="14" name="Shape 12"/>
          <p:cNvSpPr/>
          <p:nvPr/>
        </p:nvSpPr>
        <p:spPr>
          <a:xfrm>
            <a:off x="5074920" y="2331720"/>
            <a:ext cx="82296" cy="960120"/>
          </a:xfrm>
          <a:prstGeom prst="roundRect">
            <a:avLst/>
          </a:prstGeom>
          <a:solidFill>
            <a:srgbClr val="1C7293"/>
          </a:solidFill>
          <a:ln/>
        </p:spPr>
      </p:sp>
      <p:sp>
        <p:nvSpPr>
          <p:cNvPr id="15" name="Text 13"/>
          <p:cNvSpPr txBox="1"/>
          <p:nvPr/>
        </p:nvSpPr>
        <p:spPr>
          <a:xfrm>
            <a:off x="5276088" y="2496312"/>
            <a:ext cx="1508760" cy="365760"/>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Cleaned star schema</a:t>
            </a:r>
            <a:endParaRPr lang="en-US" sz="1250" dirty="0"/>
          </a:p>
        </p:txBody>
      </p:sp>
      <p:sp>
        <p:nvSpPr>
          <p:cNvPr id="16" name="Text 14"/>
          <p:cNvSpPr txBox="1"/>
          <p:nvPr/>
        </p:nvSpPr>
        <p:spPr>
          <a:xfrm>
            <a:off x="5276088" y="2862072"/>
            <a:ext cx="1508760" cy="32004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4 shared tables</a:t>
            </a:r>
            <a:endParaRPr lang="en-US" sz="1050" dirty="0"/>
          </a:p>
        </p:txBody>
      </p:sp>
      <p:sp>
        <p:nvSpPr>
          <p:cNvPr id="17" name="Shape 15"/>
          <p:cNvSpPr/>
          <p:nvPr/>
        </p:nvSpPr>
        <p:spPr>
          <a:xfrm>
            <a:off x="2468880" y="2738628"/>
            <a:ext cx="320040" cy="146304"/>
          </a:xfrm>
          <a:prstGeom prst="rightArrow">
            <a:avLst/>
          </a:prstGeom>
          <a:solidFill>
            <a:srgbClr val="DCE6EA"/>
          </a:solidFill>
          <a:ln/>
        </p:spPr>
      </p:sp>
      <p:sp>
        <p:nvSpPr>
          <p:cNvPr id="18" name="Shape 16"/>
          <p:cNvSpPr/>
          <p:nvPr/>
        </p:nvSpPr>
        <p:spPr>
          <a:xfrm>
            <a:off x="4754880" y="2738628"/>
            <a:ext cx="320040" cy="146304"/>
          </a:xfrm>
          <a:prstGeom prst="rightArrow">
            <a:avLst/>
          </a:prstGeom>
          <a:solidFill>
            <a:srgbClr val="DCE6EA"/>
          </a:solidFill>
          <a:ln/>
        </p:spPr>
      </p:sp>
      <p:sp>
        <p:nvSpPr>
          <p:cNvPr id="19" name="Shape 17"/>
          <p:cNvSpPr/>
          <p:nvPr/>
        </p:nvSpPr>
        <p:spPr>
          <a:xfrm>
            <a:off x="7040880" y="2738628"/>
            <a:ext cx="411480" cy="146304"/>
          </a:xfrm>
          <a:prstGeom prst="rightArrow">
            <a:avLst/>
          </a:prstGeom>
          <a:solidFill>
            <a:srgbClr val="DCE6EA"/>
          </a:solidFill>
          <a:ln/>
        </p:spPr>
      </p:sp>
      <p:sp>
        <p:nvSpPr>
          <p:cNvPr id="20" name="Shape 18"/>
          <p:cNvSpPr/>
          <p:nvPr/>
        </p:nvSpPr>
        <p:spPr>
          <a:xfrm>
            <a:off x="7635240" y="1737360"/>
            <a:ext cx="3931920" cy="868680"/>
          </a:xfrm>
          <a:prstGeom prst="roundRect">
            <a:avLst>
              <a:gd name="adj" fmla="val 9474"/>
            </a:avLst>
          </a:prstGeom>
          <a:solidFill>
            <a:srgbClr val="FFFFFF"/>
          </a:solidFill>
          <a:ln w="12700">
            <a:solidFill>
              <a:srgbClr val="DCE6EA"/>
            </a:solidFill>
            <a:prstDash val="solid"/>
          </a:ln>
          <a:effectLst>
            <a:outerShdw sx="100000" sy="100000" kx="0" ky="0" algn="bl" rotWithShape="0" blurRad="76200" dist="25400" dir="5400000">
              <a:srgbClr val="0B3D5C">
                <a:alpha val="12000"/>
              </a:srgbClr>
            </a:outerShdw>
          </a:effectLst>
        </p:spPr>
      </p:sp>
      <p:sp>
        <p:nvSpPr>
          <p:cNvPr id="21" name="Shape 19"/>
          <p:cNvSpPr/>
          <p:nvPr/>
        </p:nvSpPr>
        <p:spPr>
          <a:xfrm>
            <a:off x="7799832" y="1920240"/>
            <a:ext cx="502920" cy="502920"/>
          </a:xfrm>
          <a:prstGeom prst="ellipse">
            <a:avLst/>
          </a:prstGeom>
          <a:solidFill>
            <a:srgbClr val="0B3D5C"/>
          </a:solidFill>
          <a:ln/>
        </p:spPr>
      </p:sp>
      <p:sp>
        <p:nvSpPr>
          <p:cNvPr id="22" name="Text 20"/>
          <p:cNvSpPr txBox="1"/>
          <p:nvPr/>
        </p:nvSpPr>
        <p:spPr>
          <a:xfrm>
            <a:off x="7799832" y="1920240"/>
            <a:ext cx="502920" cy="502920"/>
          </a:xfrm>
          <a:prstGeom prst="rect">
            <a:avLst/>
          </a:prstGeom>
          <a:noFill/>
          <a:ln/>
        </p:spPr>
        <p:txBody>
          <a:bodyPr wrap="square" lIns="0" tIns="0" rIns="0" bIns="0" rtlCol="0" anchor="ctr"/>
          <a:lstStyle/>
          <a:p>
            <a:pPr algn="ctr" indent="0" marL="0">
              <a:buNone/>
            </a:pPr>
            <a:r>
              <a:rPr lang="en-US" sz="1700" b="1" dirty="0">
                <a:solidFill>
                  <a:srgbClr val="21C6A8"/>
                </a:solidFill>
                <a:latin typeface="Calibri" pitchFamily="34" charset="0"/>
                <a:ea typeface="Calibri" pitchFamily="34" charset="-122"/>
                <a:cs typeface="Calibri" pitchFamily="34" charset="-120"/>
              </a:rPr>
              <a:t>D</a:t>
            </a:r>
            <a:endParaRPr lang="en-US" sz="1700" dirty="0"/>
          </a:p>
        </p:txBody>
      </p:sp>
      <p:sp>
        <p:nvSpPr>
          <p:cNvPr id="23" name="Text 21"/>
          <p:cNvSpPr txBox="1"/>
          <p:nvPr/>
        </p:nvSpPr>
        <p:spPr>
          <a:xfrm>
            <a:off x="8458200" y="1865376"/>
            <a:ext cx="2971800" cy="347472"/>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Offline HTML Dashboard</a:t>
            </a:r>
            <a:endParaRPr lang="en-US" sz="1250" dirty="0"/>
          </a:p>
        </p:txBody>
      </p:sp>
      <p:sp>
        <p:nvSpPr>
          <p:cNvPr id="24" name="Text 22"/>
          <p:cNvSpPr txBox="1"/>
          <p:nvPr/>
        </p:nvSpPr>
        <p:spPr>
          <a:xfrm>
            <a:off x="8458200" y="2212848"/>
            <a:ext cx="2971800" cy="347472"/>
          </a:xfrm>
          <a:prstGeom prst="rect">
            <a:avLst/>
          </a:prstGeom>
          <a:noFill/>
          <a:ln/>
        </p:spPr>
        <p:txBody>
          <a:bodyPr wrap="square" lIns="0" tIns="0" rIns="0" bIns="0" rtlCol="0" anchor="ctr"/>
          <a:lstStyle/>
          <a:p>
            <a:pPr indent="0" marL="0">
              <a:buNone/>
            </a:pPr>
            <a:r>
              <a:rPr lang="en-US" sz="1000" dirty="0">
                <a:solidFill>
                  <a:srgbClr val="5B6B76"/>
                </a:solidFill>
                <a:latin typeface="Calibri" pitchFamily="34" charset="0"/>
                <a:ea typeface="Calibri" pitchFamily="34" charset="-122"/>
                <a:cs typeface="Calibri" pitchFamily="34" charset="-120"/>
              </a:rPr>
              <a:t>compute_metrics.py -&gt; build_dashboard.py</a:t>
            </a:r>
            <a:endParaRPr lang="en-US" sz="1000" dirty="0"/>
          </a:p>
        </p:txBody>
      </p:sp>
      <p:sp>
        <p:nvSpPr>
          <p:cNvPr id="25" name="Shape 23"/>
          <p:cNvSpPr/>
          <p:nvPr/>
        </p:nvSpPr>
        <p:spPr>
          <a:xfrm>
            <a:off x="7635240" y="2743200"/>
            <a:ext cx="3931920" cy="868680"/>
          </a:xfrm>
          <a:prstGeom prst="roundRect">
            <a:avLst>
              <a:gd name="adj" fmla="val 9474"/>
            </a:avLst>
          </a:prstGeom>
          <a:solidFill>
            <a:srgbClr val="FFFFFF"/>
          </a:solidFill>
          <a:ln w="12700">
            <a:solidFill>
              <a:srgbClr val="DCE6EA"/>
            </a:solidFill>
            <a:prstDash val="solid"/>
          </a:ln>
          <a:effectLst>
            <a:outerShdw sx="100000" sy="100000" kx="0" ky="0" algn="bl" rotWithShape="0" blurRad="76200" dist="25400" dir="5400000">
              <a:srgbClr val="0B3D5C">
                <a:alpha val="12000"/>
              </a:srgbClr>
            </a:outerShdw>
          </a:effectLst>
        </p:spPr>
      </p:sp>
      <p:sp>
        <p:nvSpPr>
          <p:cNvPr id="26" name="Shape 24"/>
          <p:cNvSpPr/>
          <p:nvPr/>
        </p:nvSpPr>
        <p:spPr>
          <a:xfrm>
            <a:off x="7799832" y="2926080"/>
            <a:ext cx="502920" cy="502920"/>
          </a:xfrm>
          <a:prstGeom prst="ellipse">
            <a:avLst/>
          </a:prstGeom>
          <a:solidFill>
            <a:srgbClr val="0B3D5C"/>
          </a:solidFill>
          <a:ln/>
        </p:spPr>
      </p:sp>
      <p:sp>
        <p:nvSpPr>
          <p:cNvPr id="27" name="Text 25"/>
          <p:cNvSpPr txBox="1"/>
          <p:nvPr/>
        </p:nvSpPr>
        <p:spPr>
          <a:xfrm>
            <a:off x="7799832" y="2926080"/>
            <a:ext cx="502920" cy="502920"/>
          </a:xfrm>
          <a:prstGeom prst="rect">
            <a:avLst/>
          </a:prstGeom>
          <a:noFill/>
          <a:ln/>
        </p:spPr>
        <p:txBody>
          <a:bodyPr wrap="square" lIns="0" tIns="0" rIns="0" bIns="0" rtlCol="0" anchor="ctr"/>
          <a:lstStyle/>
          <a:p>
            <a:pPr algn="ctr" indent="0" marL="0">
              <a:buNone/>
            </a:pPr>
            <a:r>
              <a:rPr lang="en-US" sz="1700" b="1" dirty="0">
                <a:solidFill>
                  <a:srgbClr val="21C6A8"/>
                </a:solidFill>
                <a:latin typeface="Calibri" pitchFamily="34" charset="0"/>
                <a:ea typeface="Calibri" pitchFamily="34" charset="-122"/>
                <a:cs typeface="Calibri" pitchFamily="34" charset="-120"/>
              </a:rPr>
              <a:t>P</a:t>
            </a:r>
            <a:endParaRPr lang="en-US" sz="1700" dirty="0"/>
          </a:p>
        </p:txBody>
      </p:sp>
      <p:sp>
        <p:nvSpPr>
          <p:cNvPr id="28" name="Text 26"/>
          <p:cNvSpPr txBox="1"/>
          <p:nvPr/>
        </p:nvSpPr>
        <p:spPr>
          <a:xfrm>
            <a:off x="8458200" y="2871216"/>
            <a:ext cx="2971800" cy="347472"/>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Power BI Report</a:t>
            </a:r>
            <a:endParaRPr lang="en-US" sz="1250" dirty="0"/>
          </a:p>
        </p:txBody>
      </p:sp>
      <p:sp>
        <p:nvSpPr>
          <p:cNvPr id="29" name="Text 27"/>
          <p:cNvSpPr txBox="1"/>
          <p:nvPr/>
        </p:nvSpPr>
        <p:spPr>
          <a:xfrm>
            <a:off x="8458200" y="3218688"/>
            <a:ext cx="2971800" cy="347472"/>
          </a:xfrm>
          <a:prstGeom prst="rect">
            <a:avLst/>
          </a:prstGeom>
          <a:noFill/>
          <a:ln/>
        </p:spPr>
        <p:txBody>
          <a:bodyPr wrap="square" lIns="0" tIns="0" rIns="0" bIns="0" rtlCol="0" anchor="ctr"/>
          <a:lstStyle/>
          <a:p>
            <a:pPr indent="0" marL="0">
              <a:buNone/>
            </a:pPr>
            <a:r>
              <a:rPr lang="en-US" sz="1000" dirty="0">
                <a:solidFill>
                  <a:srgbClr val="5B6B76"/>
                </a:solidFill>
                <a:latin typeface="Calibri" pitchFamily="34" charset="0"/>
                <a:ea typeface="Calibri" pitchFamily="34" charset="-122"/>
                <a:cs typeface="Calibri" pitchFamily="34" charset="-120"/>
              </a:rPr>
              <a:t>build_powerbi_project.py -&gt; Publish to web</a:t>
            </a:r>
            <a:endParaRPr lang="en-US" sz="1000" dirty="0"/>
          </a:p>
        </p:txBody>
      </p:sp>
      <p:sp>
        <p:nvSpPr>
          <p:cNvPr id="30" name="Shape 28"/>
          <p:cNvSpPr/>
          <p:nvPr/>
        </p:nvSpPr>
        <p:spPr>
          <a:xfrm>
            <a:off x="7635240" y="3749040"/>
            <a:ext cx="3931920" cy="868680"/>
          </a:xfrm>
          <a:prstGeom prst="roundRect">
            <a:avLst>
              <a:gd name="adj" fmla="val 9474"/>
            </a:avLst>
          </a:prstGeom>
          <a:solidFill>
            <a:srgbClr val="FFFFFF"/>
          </a:solidFill>
          <a:ln w="12700">
            <a:solidFill>
              <a:srgbClr val="DCE6EA"/>
            </a:solidFill>
            <a:prstDash val="solid"/>
          </a:ln>
          <a:effectLst>
            <a:outerShdw sx="100000" sy="100000" kx="0" ky="0" algn="bl" rotWithShape="0" blurRad="76200" dist="25400" dir="5400000">
              <a:srgbClr val="0B3D5C">
                <a:alpha val="12000"/>
              </a:srgbClr>
            </a:outerShdw>
          </a:effectLst>
        </p:spPr>
      </p:sp>
      <p:sp>
        <p:nvSpPr>
          <p:cNvPr id="31" name="Shape 29"/>
          <p:cNvSpPr/>
          <p:nvPr/>
        </p:nvSpPr>
        <p:spPr>
          <a:xfrm>
            <a:off x="7799832" y="3931920"/>
            <a:ext cx="502920" cy="502920"/>
          </a:xfrm>
          <a:prstGeom prst="ellipse">
            <a:avLst/>
          </a:prstGeom>
          <a:solidFill>
            <a:srgbClr val="0B3D5C"/>
          </a:solidFill>
          <a:ln/>
        </p:spPr>
      </p:sp>
      <p:sp>
        <p:nvSpPr>
          <p:cNvPr id="32" name="Text 30"/>
          <p:cNvSpPr txBox="1"/>
          <p:nvPr/>
        </p:nvSpPr>
        <p:spPr>
          <a:xfrm>
            <a:off x="7799832" y="3931920"/>
            <a:ext cx="502920" cy="502920"/>
          </a:xfrm>
          <a:prstGeom prst="rect">
            <a:avLst/>
          </a:prstGeom>
          <a:noFill/>
          <a:ln/>
        </p:spPr>
        <p:txBody>
          <a:bodyPr wrap="square" lIns="0" tIns="0" rIns="0" bIns="0" rtlCol="0" anchor="ctr"/>
          <a:lstStyle/>
          <a:p>
            <a:pPr algn="ctr" indent="0" marL="0">
              <a:buNone/>
            </a:pPr>
            <a:r>
              <a:rPr lang="en-US" sz="1700" b="1" dirty="0">
                <a:solidFill>
                  <a:srgbClr val="21C6A8"/>
                </a:solidFill>
                <a:latin typeface="Calibri" pitchFamily="34" charset="0"/>
                <a:ea typeface="Calibri" pitchFamily="34" charset="-122"/>
                <a:cs typeface="Calibri" pitchFamily="34" charset="-120"/>
              </a:rPr>
              <a:t>C</a:t>
            </a:r>
            <a:endParaRPr lang="en-US" sz="1700" dirty="0"/>
          </a:p>
        </p:txBody>
      </p:sp>
      <p:sp>
        <p:nvSpPr>
          <p:cNvPr id="33" name="Text 31"/>
          <p:cNvSpPr txBox="1"/>
          <p:nvPr/>
        </p:nvSpPr>
        <p:spPr>
          <a:xfrm>
            <a:off x="8458200" y="3877056"/>
            <a:ext cx="2971800" cy="347472"/>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Text-to-SQL Chatbot</a:t>
            </a:r>
            <a:endParaRPr lang="en-US" sz="1250" dirty="0"/>
          </a:p>
        </p:txBody>
      </p:sp>
      <p:sp>
        <p:nvSpPr>
          <p:cNvPr id="34" name="Text 32"/>
          <p:cNvSpPr txBox="1"/>
          <p:nvPr/>
        </p:nvSpPr>
        <p:spPr>
          <a:xfrm>
            <a:off x="8458200" y="4224528"/>
            <a:ext cx="2971800" cy="347472"/>
          </a:xfrm>
          <a:prstGeom prst="rect">
            <a:avLst/>
          </a:prstGeom>
          <a:noFill/>
          <a:ln/>
        </p:spPr>
        <p:txBody>
          <a:bodyPr wrap="square" lIns="0" tIns="0" rIns="0" bIns="0" rtlCol="0" anchor="ctr"/>
          <a:lstStyle/>
          <a:p>
            <a:pPr indent="0" marL="0">
              <a:buNone/>
            </a:pPr>
            <a:r>
              <a:rPr lang="en-US" sz="1000" dirty="0">
                <a:solidFill>
                  <a:srgbClr val="5B6B76"/>
                </a:solidFill>
                <a:latin typeface="Calibri" pitchFamily="34" charset="0"/>
                <a:ea typeface="Calibri" pitchFamily="34" charset="-122"/>
                <a:cs typeface="Calibri" pitchFamily="34" charset="-120"/>
              </a:rPr>
              <a:t>agent/build_db.py -&gt; FastAPI + widget</a:t>
            </a:r>
            <a:endParaRPr lang="en-US" sz="1000" dirty="0"/>
          </a:p>
        </p:txBody>
      </p:sp>
      <p:sp>
        <p:nvSpPr>
          <p:cNvPr id="35" name="Text 33"/>
          <p:cNvSpPr txBox="1"/>
          <p:nvPr/>
        </p:nvSpPr>
        <p:spPr>
          <a:xfrm>
            <a:off x="640080" y="5623560"/>
            <a:ext cx="10881360" cy="365760"/>
          </a:xfrm>
          <a:prstGeom prst="rect">
            <a:avLst/>
          </a:prstGeom>
          <a:noFill/>
          <a:ln/>
        </p:spPr>
        <p:txBody>
          <a:bodyPr wrap="square" lIns="0" tIns="0" rIns="0" bIns="0" rtlCol="0" anchor="ctr"/>
          <a:lstStyle/>
          <a:p>
            <a:pPr indent="0" marL="0">
              <a:buNone/>
            </a:pPr>
            <a:r>
              <a:rPr lang="en-US" sz="1150" i="1" dirty="0">
                <a:solidFill>
                  <a:srgbClr val="1C7293"/>
                </a:solidFill>
                <a:latin typeface="Calibri" pitchFamily="34" charset="0"/>
                <a:ea typeface="Calibri" pitchFamily="34" charset="-122"/>
                <a:cs typeface="Calibri" pitchFamily="34" charset="-120"/>
              </a:rPr>
              <a:t>Nothing is silently dropped — unrecoverable values are flagged with explicit boolean columns, never removed.</a:t>
            </a:r>
            <a:endParaRPr lang="en-US" sz="1150" dirty="0"/>
          </a:p>
        </p:txBody>
      </p:sp>
      <p:sp>
        <p:nvSpPr>
          <p:cNvPr id="36" name="Text 34"/>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5B6B76"/>
                </a:solidFill>
                <a:latin typeface="Calibri" pitchFamily="34" charset="0"/>
                <a:ea typeface="Calibri" pitchFamily="34" charset="-122"/>
                <a:cs typeface="Calibri" pitchFamily="34" charset="-120"/>
              </a:rPr>
              <a:t>Analytics of TransOrg</a:t>
            </a:r>
            <a:endParaRPr lang="en-US" sz="1000" dirty="0"/>
          </a:p>
        </p:txBody>
      </p:sp>
      <p:sp>
        <p:nvSpPr>
          <p:cNvPr id="37" name="Text 35"/>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52560" y="-1828800"/>
            <a:ext cx="5486400" cy="5486400"/>
          </a:xfrm>
          <a:prstGeom prst="ellipse">
            <a:avLst/>
          </a:prstGeom>
          <a:solidFill>
            <a:srgbClr val="1C7293">
              <a:alpha val="10000"/>
            </a:srgbClr>
          </a:solidFill>
          <a:ln/>
        </p:spPr>
      </p:sp>
      <p:sp>
        <p:nvSpPr>
          <p:cNvPr id="3" name="Shape 1"/>
          <p:cNvSpPr/>
          <p:nvPr/>
        </p:nvSpPr>
        <p:spPr>
          <a:xfrm>
            <a:off x="-1280160" y="4023360"/>
            <a:ext cx="3108960" cy="3108960"/>
          </a:xfrm>
          <a:prstGeom prst="ellipse">
            <a:avLst/>
          </a:prstGeom>
          <a:solidFill>
            <a:srgbClr val="21C6A8">
              <a:alpha val="10000"/>
            </a:srgbClr>
          </a:solidFill>
          <a:ln/>
        </p:spPr>
      </p:sp>
      <p:sp>
        <p:nvSpPr>
          <p:cNvPr id="4" name="Shape 2"/>
          <p:cNvSpPr/>
          <p:nvPr/>
        </p:nvSpPr>
        <p:spPr>
          <a:xfrm>
            <a:off x="822960" y="1554480"/>
            <a:ext cx="868680" cy="868680"/>
          </a:xfrm>
          <a:prstGeom prst="ellipse">
            <a:avLst/>
          </a:prstGeom>
          <a:solidFill>
            <a:srgbClr val="0B3D5C"/>
          </a:solidFill>
          <a:ln/>
        </p:spPr>
      </p:sp>
      <p:sp>
        <p:nvSpPr>
          <p:cNvPr id="5" name="Text 3"/>
          <p:cNvSpPr txBox="1"/>
          <p:nvPr/>
        </p:nvSpPr>
        <p:spPr>
          <a:xfrm>
            <a:off x="822960" y="1554480"/>
            <a:ext cx="868680" cy="868680"/>
          </a:xfrm>
          <a:prstGeom prst="rect">
            <a:avLst/>
          </a:prstGeom>
          <a:noFill/>
          <a:ln/>
        </p:spPr>
        <p:txBody>
          <a:bodyPr wrap="square" lIns="0" tIns="0" rIns="0" bIns="0" rtlCol="0" anchor="ctr"/>
          <a:lstStyle/>
          <a:p>
            <a:pPr algn="ctr" indent="0" marL="0">
              <a:buNone/>
            </a:pPr>
            <a:r>
              <a:rPr lang="en-US" sz="3000" b="1" dirty="0">
                <a:solidFill>
                  <a:srgbClr val="21C6A8"/>
                </a:solidFill>
                <a:latin typeface="Calibri" pitchFamily="34" charset="0"/>
                <a:ea typeface="Calibri" pitchFamily="34" charset="-122"/>
                <a:cs typeface="Calibri" pitchFamily="34" charset="-120"/>
              </a:rPr>
              <a:t>1</a:t>
            </a:r>
            <a:endParaRPr lang="en-US" sz="3000" dirty="0"/>
          </a:p>
        </p:txBody>
      </p:sp>
      <p:sp>
        <p:nvSpPr>
          <p:cNvPr id="6" name="Text 4"/>
          <p:cNvSpPr txBox="1"/>
          <p:nvPr/>
        </p:nvSpPr>
        <p:spPr>
          <a:xfrm>
            <a:off x="1874520" y="1627632"/>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1 OF 3</a:t>
            </a:r>
            <a:endParaRPr lang="en-US" sz="1300" dirty="0"/>
          </a:p>
        </p:txBody>
      </p:sp>
      <p:sp>
        <p:nvSpPr>
          <p:cNvPr id="7" name="Text 5"/>
          <p:cNvSpPr txBox="1"/>
          <p:nvPr/>
        </p:nvSpPr>
        <p:spPr>
          <a:xfrm>
            <a:off x="1874520" y="1920240"/>
            <a:ext cx="8961120" cy="685800"/>
          </a:xfrm>
          <a:prstGeom prst="rect">
            <a:avLst/>
          </a:prstGeom>
          <a:noFill/>
          <a:ln/>
        </p:spPr>
        <p:txBody>
          <a:bodyPr wrap="square" lIns="0" tIns="0" rIns="0" bIns="0" rtlCol="0" anchor="ctr"/>
          <a:lstStyle/>
          <a:p>
            <a:pPr indent="0" marL="0">
              <a:buNone/>
            </a:pPr>
            <a:r>
              <a:rPr lang="en-US" sz="3000" b="1" dirty="0">
                <a:solidFill>
                  <a:srgbClr val="0B3D5C"/>
                </a:solidFill>
                <a:latin typeface="Cambria" pitchFamily="34" charset="0"/>
                <a:ea typeface="Cambria" pitchFamily="34" charset="-122"/>
                <a:cs typeface="Cambria" pitchFamily="34" charset="-120"/>
              </a:rPr>
              <a:t>Data Cleaning</a:t>
            </a:r>
            <a:endParaRPr lang="en-US" sz="3000" dirty="0"/>
          </a:p>
        </p:txBody>
      </p:sp>
      <p:sp>
        <p:nvSpPr>
          <p:cNvPr id="8" name="Text 6"/>
          <p:cNvSpPr txBox="1"/>
          <p:nvPr/>
        </p:nvSpPr>
        <p:spPr>
          <a:xfrm>
            <a:off x="822960" y="2880360"/>
            <a:ext cx="9692640" cy="914400"/>
          </a:xfrm>
          <a:prstGeom prst="rect">
            <a:avLst/>
          </a:prstGeom>
          <a:noFill/>
          <a:ln/>
        </p:spPr>
        <p:txBody>
          <a:bodyPr wrap="square" lIns="0" tIns="0" rIns="0" bIns="0" rtlCol="0" anchor="ctr"/>
          <a:lstStyle/>
          <a:p>
            <a:pPr indent="0" marL="0">
              <a:lnSpc>
                <a:spcPct val="135000"/>
              </a:lnSpc>
              <a:buNone/>
            </a:pPr>
            <a:r>
              <a:rPr lang="en-US" sz="1400" dirty="0">
                <a:solidFill>
                  <a:srgbClr val="5B6B76"/>
                </a:solidFill>
                <a:latin typeface="Calibri" pitchFamily="34" charset="0"/>
                <a:ea typeface="Calibri" pitchFamily="34" charset="-122"/>
                <a:cs typeface="Calibri" pitchFamily="34" charset="-120"/>
              </a:rPr>
              <a:t>Four deliberately messy source files — inconsistent IDs, currency formats, timestamp formats, PAN/Aadhaar formats — run through clean_pipeline.py to become one analytics-ready star schema.</a:t>
            </a:r>
            <a:endParaRPr lang="en-US" sz="1400" dirty="0"/>
          </a:p>
        </p:txBody>
      </p:sp>
      <p:sp>
        <p:nvSpPr>
          <p:cNvPr id="9" name="Text 7"/>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5B6B76"/>
                </a:solidFill>
                <a:latin typeface="Calibri" pitchFamily="34" charset="0"/>
                <a:ea typeface="Calibri" pitchFamily="34" charset="-122"/>
                <a:cs typeface="Calibri" pitchFamily="34" charset="-120"/>
              </a:rPr>
              <a:t>Analytics of TransOrg</a:t>
            </a:r>
            <a:endParaRPr lang="en-US" sz="1000" dirty="0"/>
          </a:p>
        </p:txBody>
      </p:sp>
      <p:sp>
        <p:nvSpPr>
          <p:cNvPr id="10" name="Text 8"/>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SECTION 1 · DATA CLEANING</a:t>
            </a:r>
            <a:endParaRPr lang="en-US" sz="1250" dirty="0"/>
          </a:p>
        </p:txBody>
      </p:sp>
      <p:sp>
        <p:nvSpPr>
          <p:cNvPr id="3" name="Text 1"/>
          <p:cNvSpPr txBox="1"/>
          <p:nvPr/>
        </p:nvSpPr>
        <p:spPr>
          <a:xfrm>
            <a:off x="640080" y="804672"/>
            <a:ext cx="10515600" cy="640080"/>
          </a:xfrm>
          <a:prstGeom prst="rect">
            <a:avLst/>
          </a:prstGeom>
          <a:noFill/>
          <a:ln/>
        </p:spPr>
        <p:txBody>
          <a:bodyPr wrap="square" lIns="0" tIns="0" rIns="0" bIns="0" rtlCol="0" anchor="ctr"/>
          <a:lstStyle/>
          <a:p>
            <a:pPr indent="0" marL="0">
              <a:buNone/>
            </a:pPr>
            <a:r>
              <a:rPr lang="en-US" sz="2500" b="1" dirty="0">
                <a:solidFill>
                  <a:srgbClr val="0B3D5C"/>
                </a:solidFill>
                <a:latin typeface="Cambria" pitchFamily="34" charset="0"/>
                <a:ea typeface="Cambria" pitchFamily="34" charset="-122"/>
                <a:cs typeface="Cambria" pitchFamily="34" charset="-120"/>
              </a:rPr>
              <a:t>Parameters standardized in the cleaning pipeline</a:t>
            </a:r>
            <a:endParaRPr lang="en-US" sz="2500" dirty="0"/>
          </a:p>
        </p:txBody>
      </p:sp>
      <p:sp>
        <p:nvSpPr>
          <p:cNvPr id="4" name="Shape 2"/>
          <p:cNvSpPr/>
          <p:nvPr/>
        </p:nvSpPr>
        <p:spPr>
          <a:xfrm>
            <a:off x="640080" y="1600200"/>
            <a:ext cx="5257800" cy="1207008"/>
          </a:xfrm>
          <a:prstGeom prst="roundRect">
            <a:avLst>
              <a:gd name="adj" fmla="val 6818"/>
            </a:avLst>
          </a:prstGeom>
          <a:solidFill>
            <a:srgbClr val="F4F8FA"/>
          </a:solidFill>
          <a:ln w="12700">
            <a:solidFill>
              <a:srgbClr val="DCE6EA"/>
            </a:solidFill>
            <a:prstDash val="solid"/>
          </a:ln>
        </p:spPr>
      </p:sp>
      <p:sp>
        <p:nvSpPr>
          <p:cNvPr id="5" name="Shape 3"/>
          <p:cNvSpPr/>
          <p:nvPr/>
        </p:nvSpPr>
        <p:spPr>
          <a:xfrm>
            <a:off x="822960" y="1783080"/>
            <a:ext cx="365760" cy="365760"/>
          </a:xfrm>
          <a:prstGeom prst="ellipse">
            <a:avLst/>
          </a:prstGeom>
          <a:solidFill>
            <a:srgbClr val="0B3D5C"/>
          </a:solidFill>
          <a:ln/>
        </p:spPr>
      </p:sp>
      <p:sp>
        <p:nvSpPr>
          <p:cNvPr id="6" name="Text 4"/>
          <p:cNvSpPr txBox="1"/>
          <p:nvPr/>
        </p:nvSpPr>
        <p:spPr>
          <a:xfrm>
            <a:off x="822960" y="1783080"/>
            <a:ext cx="365760" cy="365760"/>
          </a:xfrm>
          <a:prstGeom prst="rect">
            <a:avLst/>
          </a:prstGeom>
          <a:noFill/>
          <a:ln/>
        </p:spPr>
        <p:txBody>
          <a:bodyPr wrap="square" lIns="0" tIns="0" rIns="0" bIns="0" rtlCol="0" anchor="ctr"/>
          <a:lstStyle/>
          <a:p>
            <a:pPr algn="ctr" indent="0" marL="0">
              <a:buNone/>
            </a:pPr>
            <a:r>
              <a:rPr lang="en-US" sz="1300" b="1" dirty="0">
                <a:solidFill>
                  <a:srgbClr val="21C6A8"/>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25880" y="1746504"/>
            <a:ext cx="4389120" cy="365760"/>
          </a:xfrm>
          <a:prstGeom prst="rect">
            <a:avLst/>
          </a:prstGeom>
          <a:noFill/>
          <a:ln/>
        </p:spPr>
        <p:txBody>
          <a:bodyPr wrap="square" lIns="0" tIns="0" rIns="0" bIns="0"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ID normalization + dedup</a:t>
            </a:r>
            <a:endParaRPr lang="en-US" sz="1300" dirty="0"/>
          </a:p>
        </p:txBody>
      </p:sp>
      <p:sp>
        <p:nvSpPr>
          <p:cNvPr id="8" name="Text 6"/>
          <p:cNvSpPr txBox="1"/>
          <p:nvPr/>
        </p:nvSpPr>
        <p:spPr>
          <a:xfrm>
            <a:off x="1325880" y="2112264"/>
            <a:ext cx="4389120" cy="621792"/>
          </a:xfrm>
          <a:prstGeom prst="rect">
            <a:avLst/>
          </a:prstGeom>
          <a:noFill/>
          <a:ln/>
        </p:spPr>
        <p:txBody>
          <a:bodyPr wrap="square" lIns="0" tIns="0" rIns="0" bIns="0" rtlCol="0" anchor="ctr"/>
          <a:lstStyle/>
          <a:p>
            <a:pPr indent="0" marL="0">
              <a:lnSpc>
                <a:spcPct val="120000"/>
              </a:lnSpc>
              <a:buNone/>
            </a:pPr>
            <a:r>
              <a:rPr lang="en-US" sz="1080" dirty="0">
                <a:solidFill>
                  <a:srgbClr val="5B6B76"/>
                </a:solidFill>
                <a:latin typeface="Calibri" pitchFamily="34" charset="0"/>
                <a:ea typeface="Calibri" pitchFamily="34" charset="-122"/>
                <a:cs typeface="Calibri" pitchFamily="34" charset="-120"/>
              </a:rPr>
              <a:t>User, merchant and transaction IDs reconciled across all 4 files; duplicate rows removed.</a:t>
            </a:r>
            <a:endParaRPr lang="en-US" sz="1080" dirty="0"/>
          </a:p>
        </p:txBody>
      </p:sp>
      <p:sp>
        <p:nvSpPr>
          <p:cNvPr id="9" name="Shape 7"/>
          <p:cNvSpPr/>
          <p:nvPr/>
        </p:nvSpPr>
        <p:spPr>
          <a:xfrm>
            <a:off x="6217920" y="1600200"/>
            <a:ext cx="5257800" cy="1207008"/>
          </a:xfrm>
          <a:prstGeom prst="roundRect">
            <a:avLst>
              <a:gd name="adj" fmla="val 6818"/>
            </a:avLst>
          </a:prstGeom>
          <a:solidFill>
            <a:srgbClr val="F4F8FA"/>
          </a:solidFill>
          <a:ln w="12700">
            <a:solidFill>
              <a:srgbClr val="DCE6EA"/>
            </a:solidFill>
            <a:prstDash val="solid"/>
          </a:ln>
        </p:spPr>
      </p:sp>
      <p:sp>
        <p:nvSpPr>
          <p:cNvPr id="10" name="Shape 8"/>
          <p:cNvSpPr/>
          <p:nvPr/>
        </p:nvSpPr>
        <p:spPr>
          <a:xfrm>
            <a:off x="6400800" y="1783080"/>
            <a:ext cx="365760" cy="365760"/>
          </a:xfrm>
          <a:prstGeom prst="ellipse">
            <a:avLst/>
          </a:prstGeom>
          <a:solidFill>
            <a:srgbClr val="0B3D5C"/>
          </a:solidFill>
          <a:ln/>
        </p:spPr>
      </p:sp>
      <p:sp>
        <p:nvSpPr>
          <p:cNvPr id="11" name="Text 9"/>
          <p:cNvSpPr txBox="1"/>
          <p:nvPr/>
        </p:nvSpPr>
        <p:spPr>
          <a:xfrm>
            <a:off x="6400800" y="1783080"/>
            <a:ext cx="365760" cy="365760"/>
          </a:xfrm>
          <a:prstGeom prst="rect">
            <a:avLst/>
          </a:prstGeom>
          <a:noFill/>
          <a:ln/>
        </p:spPr>
        <p:txBody>
          <a:bodyPr wrap="square" lIns="0" tIns="0" rIns="0" bIns="0" rtlCol="0" anchor="ctr"/>
          <a:lstStyle/>
          <a:p>
            <a:pPr algn="ctr" indent="0" marL="0">
              <a:buNone/>
            </a:pPr>
            <a:r>
              <a:rPr lang="en-US" sz="1300" b="1" dirty="0">
                <a:solidFill>
                  <a:srgbClr val="21C6A8"/>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903720" y="1746504"/>
            <a:ext cx="4389120" cy="365760"/>
          </a:xfrm>
          <a:prstGeom prst="rect">
            <a:avLst/>
          </a:prstGeom>
          <a:noFill/>
          <a:ln/>
        </p:spPr>
        <p:txBody>
          <a:bodyPr wrap="square" lIns="0" tIns="0" rIns="0" bIns="0"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Currency / amount parsing</a:t>
            </a:r>
            <a:endParaRPr lang="en-US" sz="1300" dirty="0"/>
          </a:p>
        </p:txBody>
      </p:sp>
      <p:sp>
        <p:nvSpPr>
          <p:cNvPr id="13" name="Text 11"/>
          <p:cNvSpPr txBox="1"/>
          <p:nvPr/>
        </p:nvSpPr>
        <p:spPr>
          <a:xfrm>
            <a:off x="6903720" y="2112264"/>
            <a:ext cx="4389120" cy="621792"/>
          </a:xfrm>
          <a:prstGeom prst="rect">
            <a:avLst/>
          </a:prstGeom>
          <a:noFill/>
          <a:ln/>
        </p:spPr>
        <p:txBody>
          <a:bodyPr wrap="square" lIns="0" tIns="0" rIns="0" bIns="0" rtlCol="0" anchor="ctr"/>
          <a:lstStyle/>
          <a:p>
            <a:pPr indent="0" marL="0">
              <a:lnSpc>
                <a:spcPct val="120000"/>
              </a:lnSpc>
              <a:buNone/>
            </a:pPr>
            <a:r>
              <a:rPr lang="en-US" sz="1080" dirty="0">
                <a:solidFill>
                  <a:srgbClr val="5B6B76"/>
                </a:solidFill>
                <a:latin typeface="Calibri" pitchFamily="34" charset="0"/>
                <a:ea typeface="Calibri" pitchFamily="34" charset="-122"/>
                <a:cs typeface="Calibri" pitchFamily="34" charset="-120"/>
              </a:rPr>
              <a:t>Mixed formats (₹, commas, decimals) parsed into a single consistent numeric field.</a:t>
            </a:r>
            <a:endParaRPr lang="en-US" sz="1080" dirty="0"/>
          </a:p>
        </p:txBody>
      </p:sp>
      <p:sp>
        <p:nvSpPr>
          <p:cNvPr id="14" name="Shape 12"/>
          <p:cNvSpPr/>
          <p:nvPr/>
        </p:nvSpPr>
        <p:spPr>
          <a:xfrm>
            <a:off x="640080" y="3008376"/>
            <a:ext cx="5257800" cy="1207008"/>
          </a:xfrm>
          <a:prstGeom prst="roundRect">
            <a:avLst>
              <a:gd name="adj" fmla="val 6818"/>
            </a:avLst>
          </a:prstGeom>
          <a:solidFill>
            <a:srgbClr val="F4F8FA"/>
          </a:solidFill>
          <a:ln w="12700">
            <a:solidFill>
              <a:srgbClr val="DCE6EA"/>
            </a:solidFill>
            <a:prstDash val="solid"/>
          </a:ln>
        </p:spPr>
      </p:sp>
      <p:sp>
        <p:nvSpPr>
          <p:cNvPr id="15" name="Shape 13"/>
          <p:cNvSpPr/>
          <p:nvPr/>
        </p:nvSpPr>
        <p:spPr>
          <a:xfrm>
            <a:off x="822960" y="3191256"/>
            <a:ext cx="365760" cy="365760"/>
          </a:xfrm>
          <a:prstGeom prst="ellipse">
            <a:avLst/>
          </a:prstGeom>
          <a:solidFill>
            <a:srgbClr val="0B3D5C"/>
          </a:solidFill>
          <a:ln/>
        </p:spPr>
      </p:sp>
      <p:sp>
        <p:nvSpPr>
          <p:cNvPr id="16" name="Text 14"/>
          <p:cNvSpPr txBox="1"/>
          <p:nvPr/>
        </p:nvSpPr>
        <p:spPr>
          <a:xfrm>
            <a:off x="822960" y="3191256"/>
            <a:ext cx="365760" cy="365760"/>
          </a:xfrm>
          <a:prstGeom prst="rect">
            <a:avLst/>
          </a:prstGeom>
          <a:noFill/>
          <a:ln/>
        </p:spPr>
        <p:txBody>
          <a:bodyPr wrap="square" lIns="0" tIns="0" rIns="0" bIns="0" rtlCol="0" anchor="ctr"/>
          <a:lstStyle/>
          <a:p>
            <a:pPr algn="ctr" indent="0" marL="0">
              <a:buNone/>
            </a:pPr>
            <a:r>
              <a:rPr lang="en-US" sz="1300" b="1" dirty="0">
                <a:solidFill>
                  <a:srgbClr val="21C6A8"/>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325880" y="3154680"/>
            <a:ext cx="4389120" cy="365760"/>
          </a:xfrm>
          <a:prstGeom prst="rect">
            <a:avLst/>
          </a:prstGeom>
          <a:noFill/>
          <a:ln/>
        </p:spPr>
        <p:txBody>
          <a:bodyPr wrap="square" lIns="0" tIns="0" rIns="0" bIns="0"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6+ timestamp formats</a:t>
            </a:r>
            <a:endParaRPr lang="en-US" sz="1300" dirty="0"/>
          </a:p>
        </p:txBody>
      </p:sp>
      <p:sp>
        <p:nvSpPr>
          <p:cNvPr id="18" name="Text 16"/>
          <p:cNvSpPr txBox="1"/>
          <p:nvPr/>
        </p:nvSpPr>
        <p:spPr>
          <a:xfrm>
            <a:off x="1325880" y="3520440"/>
            <a:ext cx="4389120" cy="621792"/>
          </a:xfrm>
          <a:prstGeom prst="rect">
            <a:avLst/>
          </a:prstGeom>
          <a:noFill/>
          <a:ln/>
        </p:spPr>
        <p:txBody>
          <a:bodyPr wrap="square" lIns="0" tIns="0" rIns="0" bIns="0" rtlCol="0" anchor="ctr"/>
          <a:lstStyle/>
          <a:p>
            <a:pPr indent="0" marL="0">
              <a:lnSpc>
                <a:spcPct val="120000"/>
              </a:lnSpc>
              <a:buNone/>
            </a:pPr>
            <a:r>
              <a:rPr lang="en-US" sz="1080" dirty="0">
                <a:solidFill>
                  <a:srgbClr val="5B6B76"/>
                </a:solidFill>
                <a:latin typeface="Calibri" pitchFamily="34" charset="0"/>
                <a:ea typeface="Calibri" pitchFamily="34" charset="-122"/>
                <a:cs typeface="Calibri" pitchFamily="34" charset="-120"/>
              </a:rPr>
              <a:t>Every date/time variant across the raw files normalized to one ISO format for joins &amp; trends.</a:t>
            </a:r>
            <a:endParaRPr lang="en-US" sz="1080" dirty="0"/>
          </a:p>
        </p:txBody>
      </p:sp>
      <p:sp>
        <p:nvSpPr>
          <p:cNvPr id="19" name="Shape 17"/>
          <p:cNvSpPr/>
          <p:nvPr/>
        </p:nvSpPr>
        <p:spPr>
          <a:xfrm>
            <a:off x="6217920" y="3008376"/>
            <a:ext cx="5257800" cy="1207008"/>
          </a:xfrm>
          <a:prstGeom prst="roundRect">
            <a:avLst>
              <a:gd name="adj" fmla="val 6818"/>
            </a:avLst>
          </a:prstGeom>
          <a:solidFill>
            <a:srgbClr val="F4F8FA"/>
          </a:solidFill>
          <a:ln w="12700">
            <a:solidFill>
              <a:srgbClr val="DCE6EA"/>
            </a:solidFill>
            <a:prstDash val="solid"/>
          </a:ln>
        </p:spPr>
      </p:sp>
      <p:sp>
        <p:nvSpPr>
          <p:cNvPr id="20" name="Shape 18"/>
          <p:cNvSpPr/>
          <p:nvPr/>
        </p:nvSpPr>
        <p:spPr>
          <a:xfrm>
            <a:off x="6400800" y="3191256"/>
            <a:ext cx="365760" cy="365760"/>
          </a:xfrm>
          <a:prstGeom prst="ellipse">
            <a:avLst/>
          </a:prstGeom>
          <a:solidFill>
            <a:srgbClr val="0B3D5C"/>
          </a:solidFill>
          <a:ln/>
        </p:spPr>
      </p:sp>
      <p:sp>
        <p:nvSpPr>
          <p:cNvPr id="21" name="Text 19"/>
          <p:cNvSpPr txBox="1"/>
          <p:nvPr/>
        </p:nvSpPr>
        <p:spPr>
          <a:xfrm>
            <a:off x="6400800" y="3191256"/>
            <a:ext cx="365760" cy="365760"/>
          </a:xfrm>
          <a:prstGeom prst="rect">
            <a:avLst/>
          </a:prstGeom>
          <a:noFill/>
          <a:ln/>
        </p:spPr>
        <p:txBody>
          <a:bodyPr wrap="square" lIns="0" tIns="0" rIns="0" bIns="0" rtlCol="0" anchor="ctr"/>
          <a:lstStyle/>
          <a:p>
            <a:pPr algn="ctr" indent="0" marL="0">
              <a:buNone/>
            </a:pPr>
            <a:r>
              <a:rPr lang="en-US" sz="1300" b="1" dirty="0">
                <a:solidFill>
                  <a:srgbClr val="21C6A8"/>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903720" y="3154680"/>
            <a:ext cx="4389120" cy="365760"/>
          </a:xfrm>
          <a:prstGeom prst="rect">
            <a:avLst/>
          </a:prstGeom>
          <a:noFill/>
          <a:ln/>
        </p:spPr>
        <p:txBody>
          <a:bodyPr wrap="square" lIns="0" tIns="0" rIns="0" bIns="0"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PAN / Aadhaar masking</a:t>
            </a:r>
            <a:endParaRPr lang="en-US" sz="1300" dirty="0"/>
          </a:p>
        </p:txBody>
      </p:sp>
      <p:sp>
        <p:nvSpPr>
          <p:cNvPr id="23" name="Text 21"/>
          <p:cNvSpPr txBox="1"/>
          <p:nvPr/>
        </p:nvSpPr>
        <p:spPr>
          <a:xfrm>
            <a:off x="6903720" y="3520440"/>
            <a:ext cx="4389120" cy="621792"/>
          </a:xfrm>
          <a:prstGeom prst="rect">
            <a:avLst/>
          </a:prstGeom>
          <a:noFill/>
          <a:ln/>
        </p:spPr>
        <p:txBody>
          <a:bodyPr wrap="square" lIns="0" tIns="0" rIns="0" bIns="0" rtlCol="0" anchor="ctr"/>
          <a:lstStyle/>
          <a:p>
            <a:pPr indent="0" marL="0">
              <a:lnSpc>
                <a:spcPct val="120000"/>
              </a:lnSpc>
              <a:buNone/>
            </a:pPr>
            <a:r>
              <a:rPr lang="en-US" sz="1080" dirty="0">
                <a:solidFill>
                  <a:srgbClr val="5B6B76"/>
                </a:solidFill>
                <a:latin typeface="Calibri" pitchFamily="34" charset="0"/>
                <a:ea typeface="Calibri" pitchFamily="34" charset="-122"/>
                <a:cs typeface="Calibri" pitchFamily="34" charset="-120"/>
              </a:rPr>
              <a:t>Sensitive KYC identifiers masked on ingest — never exposed in the cleaned, published tables.</a:t>
            </a:r>
            <a:endParaRPr lang="en-US" sz="1080" dirty="0"/>
          </a:p>
        </p:txBody>
      </p:sp>
      <p:sp>
        <p:nvSpPr>
          <p:cNvPr id="24" name="Shape 22"/>
          <p:cNvSpPr/>
          <p:nvPr/>
        </p:nvSpPr>
        <p:spPr>
          <a:xfrm>
            <a:off x="640080" y="4416552"/>
            <a:ext cx="5257800" cy="1207008"/>
          </a:xfrm>
          <a:prstGeom prst="roundRect">
            <a:avLst>
              <a:gd name="adj" fmla="val 6818"/>
            </a:avLst>
          </a:prstGeom>
          <a:solidFill>
            <a:srgbClr val="F4F8FA"/>
          </a:solidFill>
          <a:ln w="12700">
            <a:solidFill>
              <a:srgbClr val="DCE6EA"/>
            </a:solidFill>
            <a:prstDash val="solid"/>
          </a:ln>
        </p:spPr>
      </p:sp>
      <p:sp>
        <p:nvSpPr>
          <p:cNvPr id="25" name="Shape 23"/>
          <p:cNvSpPr/>
          <p:nvPr/>
        </p:nvSpPr>
        <p:spPr>
          <a:xfrm>
            <a:off x="822960" y="4599432"/>
            <a:ext cx="365760" cy="365760"/>
          </a:xfrm>
          <a:prstGeom prst="ellipse">
            <a:avLst/>
          </a:prstGeom>
          <a:solidFill>
            <a:srgbClr val="0B3D5C"/>
          </a:solidFill>
          <a:ln/>
        </p:spPr>
      </p:sp>
      <p:sp>
        <p:nvSpPr>
          <p:cNvPr id="26" name="Text 24"/>
          <p:cNvSpPr txBox="1"/>
          <p:nvPr/>
        </p:nvSpPr>
        <p:spPr>
          <a:xfrm>
            <a:off x="822960" y="4599432"/>
            <a:ext cx="365760" cy="365760"/>
          </a:xfrm>
          <a:prstGeom prst="rect">
            <a:avLst/>
          </a:prstGeom>
          <a:noFill/>
          <a:ln/>
        </p:spPr>
        <p:txBody>
          <a:bodyPr wrap="square" lIns="0" tIns="0" rIns="0" bIns="0" rtlCol="0" anchor="ctr"/>
          <a:lstStyle/>
          <a:p>
            <a:pPr algn="ctr" indent="0" marL="0">
              <a:buNone/>
            </a:pPr>
            <a:r>
              <a:rPr lang="en-US" sz="1300" b="1" dirty="0">
                <a:solidFill>
                  <a:srgbClr val="21C6A8"/>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325880" y="4562856"/>
            <a:ext cx="4389120" cy="365760"/>
          </a:xfrm>
          <a:prstGeom prst="rect">
            <a:avLst/>
          </a:prstGeom>
          <a:noFill/>
          <a:ln/>
        </p:spPr>
        <p:txBody>
          <a:bodyPr wrap="square" lIns="0" tIns="0" rIns="0" bIns="0"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Foreign-key validation</a:t>
            </a:r>
            <a:endParaRPr lang="en-US" sz="1300" dirty="0"/>
          </a:p>
        </p:txBody>
      </p:sp>
      <p:sp>
        <p:nvSpPr>
          <p:cNvPr id="28" name="Text 26"/>
          <p:cNvSpPr txBox="1"/>
          <p:nvPr/>
        </p:nvSpPr>
        <p:spPr>
          <a:xfrm>
            <a:off x="1325880" y="4928616"/>
            <a:ext cx="4389120" cy="621792"/>
          </a:xfrm>
          <a:prstGeom prst="rect">
            <a:avLst/>
          </a:prstGeom>
          <a:noFill/>
          <a:ln/>
        </p:spPr>
        <p:txBody>
          <a:bodyPr wrap="square" lIns="0" tIns="0" rIns="0" bIns="0" rtlCol="0" anchor="ctr"/>
          <a:lstStyle/>
          <a:p>
            <a:pPr indent="0" marL="0">
              <a:lnSpc>
                <a:spcPct val="120000"/>
              </a:lnSpc>
              <a:buNone/>
            </a:pPr>
            <a:r>
              <a:rPr lang="en-US" sz="1080" dirty="0">
                <a:solidFill>
                  <a:srgbClr val="5B6B76"/>
                </a:solidFill>
                <a:latin typeface="Calibri" pitchFamily="34" charset="0"/>
                <a:ea typeface="Calibri" pitchFamily="34" charset="-122"/>
                <a:cs typeface="Calibri" pitchFamily="34" charset="-120"/>
              </a:rPr>
              <a:t>Every FK gets a *_valid_fk boolean flag — unmatched rows are kept and flagged, never dropped.</a:t>
            </a:r>
            <a:endParaRPr lang="en-US" sz="1080" dirty="0"/>
          </a:p>
        </p:txBody>
      </p:sp>
      <p:sp>
        <p:nvSpPr>
          <p:cNvPr id="29" name="Shape 27"/>
          <p:cNvSpPr/>
          <p:nvPr/>
        </p:nvSpPr>
        <p:spPr>
          <a:xfrm>
            <a:off x="6217920" y="4416552"/>
            <a:ext cx="5257800" cy="1207008"/>
          </a:xfrm>
          <a:prstGeom prst="roundRect">
            <a:avLst>
              <a:gd name="adj" fmla="val 6818"/>
            </a:avLst>
          </a:prstGeom>
          <a:solidFill>
            <a:srgbClr val="F4F8FA"/>
          </a:solidFill>
          <a:ln w="12700">
            <a:solidFill>
              <a:srgbClr val="DCE6EA"/>
            </a:solidFill>
            <a:prstDash val="solid"/>
          </a:ln>
        </p:spPr>
      </p:sp>
      <p:sp>
        <p:nvSpPr>
          <p:cNvPr id="30" name="Shape 28"/>
          <p:cNvSpPr/>
          <p:nvPr/>
        </p:nvSpPr>
        <p:spPr>
          <a:xfrm>
            <a:off x="6400800" y="4599432"/>
            <a:ext cx="365760" cy="365760"/>
          </a:xfrm>
          <a:prstGeom prst="ellipse">
            <a:avLst/>
          </a:prstGeom>
          <a:solidFill>
            <a:srgbClr val="0B3D5C"/>
          </a:solidFill>
          <a:ln/>
        </p:spPr>
      </p:sp>
      <p:sp>
        <p:nvSpPr>
          <p:cNvPr id="31" name="Text 29"/>
          <p:cNvSpPr txBox="1"/>
          <p:nvPr/>
        </p:nvSpPr>
        <p:spPr>
          <a:xfrm>
            <a:off x="6400800" y="4599432"/>
            <a:ext cx="365760" cy="365760"/>
          </a:xfrm>
          <a:prstGeom prst="rect">
            <a:avLst/>
          </a:prstGeom>
          <a:noFill/>
          <a:ln/>
        </p:spPr>
        <p:txBody>
          <a:bodyPr wrap="square" lIns="0" tIns="0" rIns="0" bIns="0" rtlCol="0" anchor="ctr"/>
          <a:lstStyle/>
          <a:p>
            <a:pPr algn="ctr" indent="0" marL="0">
              <a:buNone/>
            </a:pPr>
            <a:r>
              <a:rPr lang="en-US" sz="1300" b="1" dirty="0">
                <a:solidFill>
                  <a:srgbClr val="21C6A8"/>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6903720" y="4562856"/>
            <a:ext cx="4389120" cy="365760"/>
          </a:xfrm>
          <a:prstGeom prst="rect">
            <a:avLst/>
          </a:prstGeom>
          <a:noFill/>
          <a:ln/>
        </p:spPr>
        <p:txBody>
          <a:bodyPr wrap="square" lIns="0" tIns="0" rIns="0" bIns="0"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Category / status normalization</a:t>
            </a:r>
            <a:endParaRPr lang="en-US" sz="1300" dirty="0"/>
          </a:p>
        </p:txBody>
      </p:sp>
      <p:sp>
        <p:nvSpPr>
          <p:cNvPr id="33" name="Text 31"/>
          <p:cNvSpPr txBox="1"/>
          <p:nvPr/>
        </p:nvSpPr>
        <p:spPr>
          <a:xfrm>
            <a:off x="6903720" y="4928616"/>
            <a:ext cx="4389120" cy="621792"/>
          </a:xfrm>
          <a:prstGeom prst="rect">
            <a:avLst/>
          </a:prstGeom>
          <a:noFill/>
          <a:ln/>
        </p:spPr>
        <p:txBody>
          <a:bodyPr wrap="square" lIns="0" tIns="0" rIns="0" bIns="0" rtlCol="0" anchor="ctr"/>
          <a:lstStyle/>
          <a:p>
            <a:pPr indent="0" marL="0">
              <a:lnSpc>
                <a:spcPct val="120000"/>
              </a:lnSpc>
              <a:buNone/>
            </a:pPr>
            <a:r>
              <a:rPr lang="en-US" sz="1080" dirty="0">
                <a:solidFill>
                  <a:srgbClr val="5B6B76"/>
                </a:solidFill>
                <a:latin typeface="Calibri" pitchFamily="34" charset="0"/>
                <a:ea typeface="Calibri" pitchFamily="34" charset="-122"/>
                <a:cs typeface="Calibri" pitchFamily="34" charset="-120"/>
              </a:rPr>
              <a:t>Merchant categories and transaction statuses mapped to one controlled vocabulary.</a:t>
            </a:r>
            <a:endParaRPr lang="en-US" sz="1080" dirty="0"/>
          </a:p>
        </p:txBody>
      </p:sp>
      <p:sp>
        <p:nvSpPr>
          <p:cNvPr id="34" name="Text 32"/>
          <p:cNvSpPr txBox="1"/>
          <p:nvPr/>
        </p:nvSpPr>
        <p:spPr>
          <a:xfrm>
            <a:off x="640080" y="5806440"/>
            <a:ext cx="10881360" cy="548640"/>
          </a:xfrm>
          <a:prstGeom prst="rect">
            <a:avLst/>
          </a:prstGeom>
          <a:noFill/>
          <a:ln/>
        </p:spPr>
        <p:txBody>
          <a:bodyPr wrap="square" lIns="0" tIns="0" rIns="0" bIns="0" rtlCol="0" anchor="ctr"/>
          <a:lstStyle/>
          <a:p>
            <a:pPr indent="0" marL="0">
              <a:lnSpc>
                <a:spcPct val="120000"/>
              </a:lnSpc>
              <a:buNone/>
            </a:pPr>
            <a:r>
              <a:rPr lang="en-US" sz="1050" b="1" dirty="0">
                <a:solidFill>
                  <a:srgbClr val="0B3D5C"/>
                </a:solidFill>
                <a:latin typeface="Calibri" pitchFamily="34" charset="0"/>
                <a:ea typeface="Calibri" pitchFamily="34" charset="-122"/>
                <a:cs typeface="Calibri" pitchFamily="34" charset="-120"/>
              </a:rPr>
              <a:t>Result: </a:t>
            </a:r>
            <a:pPr indent="0" marL="0">
              <a:lnSpc>
                <a:spcPct val="120000"/>
              </a:lnSpc>
              <a:buNone/>
            </a:pPr>
            <a:r>
              <a:rPr lang="en-US" sz="1050" dirty="0">
                <a:solidFill>
                  <a:srgbClr val="5B6B76"/>
                </a:solidFill>
                <a:latin typeface="Calibri" pitchFamily="34" charset="0"/>
                <a:ea typeface="Calibri" pitchFamily="34" charset="-122"/>
                <a:cs typeface="Calibri" pitchFamily="34" charset="-120"/>
              </a:rPr>
              <a:t>28,920 clean customers · 4,343 merchants · 20,000 transactions · 2,800 chargebacks — only 32% of transactions matched a KYC record, and that gap is flagged, not hidden.</a:t>
            </a:r>
            <a:endParaRPr lang="en-US" sz="1050" dirty="0"/>
          </a:p>
        </p:txBody>
      </p:sp>
      <p:sp>
        <p:nvSpPr>
          <p:cNvPr id="35" name="Text 33"/>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5B6B76"/>
                </a:solidFill>
                <a:latin typeface="Calibri" pitchFamily="34" charset="0"/>
                <a:ea typeface="Calibri" pitchFamily="34" charset="-122"/>
                <a:cs typeface="Calibri" pitchFamily="34" charset="-120"/>
              </a:rPr>
              <a:t>Analytics of TransOrg</a:t>
            </a:r>
            <a:endParaRPr lang="en-US" sz="1000" dirty="0"/>
          </a:p>
        </p:txBody>
      </p:sp>
      <p:sp>
        <p:nvSpPr>
          <p:cNvPr id="36" name="Text 34"/>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52560" y="-1828800"/>
            <a:ext cx="5486400" cy="5486400"/>
          </a:xfrm>
          <a:prstGeom prst="ellipse">
            <a:avLst/>
          </a:prstGeom>
          <a:solidFill>
            <a:srgbClr val="1C7293">
              <a:alpha val="10000"/>
            </a:srgbClr>
          </a:solidFill>
          <a:ln/>
        </p:spPr>
      </p:sp>
      <p:sp>
        <p:nvSpPr>
          <p:cNvPr id="3" name="Shape 1"/>
          <p:cNvSpPr/>
          <p:nvPr/>
        </p:nvSpPr>
        <p:spPr>
          <a:xfrm>
            <a:off x="-1280160" y="4023360"/>
            <a:ext cx="3108960" cy="3108960"/>
          </a:xfrm>
          <a:prstGeom prst="ellipse">
            <a:avLst/>
          </a:prstGeom>
          <a:solidFill>
            <a:srgbClr val="21C6A8">
              <a:alpha val="10000"/>
            </a:srgbClr>
          </a:solidFill>
          <a:ln/>
        </p:spPr>
      </p:sp>
      <p:sp>
        <p:nvSpPr>
          <p:cNvPr id="4" name="Shape 2"/>
          <p:cNvSpPr/>
          <p:nvPr/>
        </p:nvSpPr>
        <p:spPr>
          <a:xfrm>
            <a:off x="822960" y="1554480"/>
            <a:ext cx="868680" cy="868680"/>
          </a:xfrm>
          <a:prstGeom prst="ellipse">
            <a:avLst/>
          </a:prstGeom>
          <a:solidFill>
            <a:srgbClr val="0B3D5C"/>
          </a:solidFill>
          <a:ln/>
        </p:spPr>
      </p:sp>
      <p:sp>
        <p:nvSpPr>
          <p:cNvPr id="5" name="Text 3"/>
          <p:cNvSpPr txBox="1"/>
          <p:nvPr/>
        </p:nvSpPr>
        <p:spPr>
          <a:xfrm>
            <a:off x="822960" y="1554480"/>
            <a:ext cx="868680" cy="868680"/>
          </a:xfrm>
          <a:prstGeom prst="rect">
            <a:avLst/>
          </a:prstGeom>
          <a:noFill/>
          <a:ln/>
        </p:spPr>
        <p:txBody>
          <a:bodyPr wrap="square" lIns="0" tIns="0" rIns="0" bIns="0" rtlCol="0" anchor="ctr"/>
          <a:lstStyle/>
          <a:p>
            <a:pPr algn="ctr" indent="0" marL="0">
              <a:buNone/>
            </a:pPr>
            <a:r>
              <a:rPr lang="en-US" sz="3000" b="1" dirty="0">
                <a:solidFill>
                  <a:srgbClr val="21C6A8"/>
                </a:solidFill>
                <a:latin typeface="Calibri" pitchFamily="34" charset="0"/>
                <a:ea typeface="Calibri" pitchFamily="34" charset="-122"/>
                <a:cs typeface="Calibri" pitchFamily="34" charset="-120"/>
              </a:rPr>
              <a:t>2</a:t>
            </a:r>
            <a:endParaRPr lang="en-US" sz="3000" dirty="0"/>
          </a:p>
        </p:txBody>
      </p:sp>
      <p:sp>
        <p:nvSpPr>
          <p:cNvPr id="6" name="Text 4"/>
          <p:cNvSpPr txBox="1"/>
          <p:nvPr/>
        </p:nvSpPr>
        <p:spPr>
          <a:xfrm>
            <a:off x="1874520" y="1627632"/>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2 OF 3</a:t>
            </a:r>
            <a:endParaRPr lang="en-US" sz="1300" dirty="0"/>
          </a:p>
        </p:txBody>
      </p:sp>
      <p:sp>
        <p:nvSpPr>
          <p:cNvPr id="7" name="Text 5"/>
          <p:cNvSpPr txBox="1"/>
          <p:nvPr/>
        </p:nvSpPr>
        <p:spPr>
          <a:xfrm>
            <a:off x="1874520" y="1920240"/>
            <a:ext cx="8961120" cy="685800"/>
          </a:xfrm>
          <a:prstGeom prst="rect">
            <a:avLst/>
          </a:prstGeom>
          <a:noFill/>
          <a:ln/>
        </p:spPr>
        <p:txBody>
          <a:bodyPr wrap="square" lIns="0" tIns="0" rIns="0" bIns="0" rtlCol="0" anchor="ctr"/>
          <a:lstStyle/>
          <a:p>
            <a:pPr indent="0" marL="0">
              <a:buNone/>
            </a:pPr>
            <a:r>
              <a:rPr lang="en-US" sz="3000" b="1" dirty="0">
                <a:solidFill>
                  <a:srgbClr val="0B3D5C"/>
                </a:solidFill>
                <a:latin typeface="Cambria" pitchFamily="34" charset="0"/>
                <a:ea typeface="Cambria" pitchFamily="34" charset="-122"/>
                <a:cs typeface="Cambria" pitchFamily="34" charset="-120"/>
              </a:rPr>
              <a:t>Power BI Dashboard</a:t>
            </a:r>
            <a:endParaRPr lang="en-US" sz="3000" dirty="0"/>
          </a:p>
        </p:txBody>
      </p:sp>
      <p:sp>
        <p:nvSpPr>
          <p:cNvPr id="8" name="Text 6"/>
          <p:cNvSpPr txBox="1"/>
          <p:nvPr/>
        </p:nvSpPr>
        <p:spPr>
          <a:xfrm>
            <a:off x="822960" y="2880360"/>
            <a:ext cx="9692640" cy="914400"/>
          </a:xfrm>
          <a:prstGeom prst="rect">
            <a:avLst/>
          </a:prstGeom>
          <a:noFill/>
          <a:ln/>
        </p:spPr>
        <p:txBody>
          <a:bodyPr wrap="square" lIns="0" tIns="0" rIns="0" bIns="0" rtlCol="0" anchor="ctr"/>
          <a:lstStyle/>
          <a:p>
            <a:pPr indent="0" marL="0">
              <a:lnSpc>
                <a:spcPct val="135000"/>
              </a:lnSpc>
              <a:buNone/>
            </a:pPr>
            <a:r>
              <a:rPr lang="en-US" sz="1400" dirty="0">
                <a:solidFill>
                  <a:srgbClr val="5B6B76"/>
                </a:solidFill>
                <a:latin typeface="Calibri" pitchFamily="34" charset="0"/>
                <a:ea typeface="Calibri" pitchFamily="34" charset="-122"/>
                <a:cs typeface="Calibri" pitchFamily="34" charset="-120"/>
              </a:rPr>
              <a:t>The cleaned star schema feeds 30+ DAX measures across four report pages, each with its own scoped slicers — so filtering never feels like a single, overloaded control panel.</a:t>
            </a:r>
            <a:endParaRPr lang="en-US" sz="1400" dirty="0"/>
          </a:p>
        </p:txBody>
      </p:sp>
      <p:sp>
        <p:nvSpPr>
          <p:cNvPr id="9" name="Text 7"/>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5B6B76"/>
                </a:solidFill>
                <a:latin typeface="Calibri" pitchFamily="34" charset="0"/>
                <a:ea typeface="Calibri" pitchFamily="34" charset="-122"/>
                <a:cs typeface="Calibri" pitchFamily="34" charset="-120"/>
              </a:rPr>
              <a:t>Analytics of TransOrg</a:t>
            </a:r>
            <a:endParaRPr lang="en-US" sz="1000" dirty="0"/>
          </a:p>
        </p:txBody>
      </p:sp>
      <p:sp>
        <p:nvSpPr>
          <p:cNvPr id="10" name="Text 8"/>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SECTION 2 · POWER BI DASHBOARD</a:t>
            </a:r>
            <a:endParaRPr lang="en-US" sz="1250" dirty="0"/>
          </a:p>
        </p:txBody>
      </p:sp>
      <p:sp>
        <p:nvSpPr>
          <p:cNvPr id="3" name="Text 1"/>
          <p:cNvSpPr txBox="1"/>
          <p:nvPr/>
        </p:nvSpPr>
        <p:spPr>
          <a:xfrm>
            <a:off x="640080" y="804672"/>
            <a:ext cx="10515600" cy="640080"/>
          </a:xfrm>
          <a:prstGeom prst="rect">
            <a:avLst/>
          </a:prstGeom>
          <a:noFill/>
          <a:ln/>
        </p:spPr>
        <p:txBody>
          <a:bodyPr wrap="square" lIns="0" tIns="0" rIns="0" bIns="0" rtlCol="0" anchor="ctr"/>
          <a:lstStyle/>
          <a:p>
            <a:pPr indent="0" marL="0">
              <a:buNone/>
            </a:pPr>
            <a:r>
              <a:rPr lang="en-US" sz="2500" b="1" dirty="0">
                <a:solidFill>
                  <a:srgbClr val="0B3D5C"/>
                </a:solidFill>
                <a:latin typeface="Cambria" pitchFamily="34" charset="0"/>
                <a:ea typeface="Cambria" pitchFamily="34" charset="-122"/>
                <a:cs typeface="Cambria" pitchFamily="34" charset="-120"/>
              </a:rPr>
              <a:t>Four report pages, one shared semantic model</a:t>
            </a:r>
            <a:endParaRPr lang="en-US" sz="2500" dirty="0"/>
          </a:p>
        </p:txBody>
      </p:sp>
      <p:sp>
        <p:nvSpPr>
          <p:cNvPr id="4" name="Shape 2"/>
          <p:cNvSpPr/>
          <p:nvPr/>
        </p:nvSpPr>
        <p:spPr>
          <a:xfrm>
            <a:off x="640080" y="1600200"/>
            <a:ext cx="2578608" cy="1965960"/>
          </a:xfrm>
          <a:prstGeom prst="roundRect">
            <a:avLst>
              <a:gd name="adj" fmla="val 4651"/>
            </a:avLst>
          </a:prstGeom>
          <a:solidFill>
            <a:srgbClr val="FFFFFF"/>
          </a:solidFill>
          <a:ln w="12700">
            <a:solidFill>
              <a:srgbClr val="DCE6EA"/>
            </a:solidFill>
            <a:prstDash val="solid"/>
          </a:ln>
          <a:effectLst>
            <a:outerShdw sx="100000" sy="100000" kx="0" ky="0" algn="bl" rotWithShape="0" blurRad="63500" dist="25400" dir="5400000">
              <a:srgbClr val="0B3D5C">
                <a:alpha val="10000"/>
              </a:srgbClr>
            </a:outerShdw>
          </a:effectLst>
        </p:spPr>
      </p:sp>
      <p:sp>
        <p:nvSpPr>
          <p:cNvPr id="5" name="Shape 3"/>
          <p:cNvSpPr/>
          <p:nvPr/>
        </p:nvSpPr>
        <p:spPr>
          <a:xfrm>
            <a:off x="804672" y="1783080"/>
            <a:ext cx="2249424" cy="82296"/>
          </a:xfrm>
          <a:prstGeom prst="roundRect">
            <a:avLst>
              <a:gd name="adj" fmla="val 44444"/>
            </a:avLst>
          </a:prstGeom>
          <a:solidFill>
            <a:srgbClr val="1C7293"/>
          </a:solidFill>
          <a:ln/>
        </p:spPr>
      </p:sp>
      <p:sp>
        <p:nvSpPr>
          <p:cNvPr id="6" name="Text 4"/>
          <p:cNvSpPr txBox="1"/>
          <p:nvPr/>
        </p:nvSpPr>
        <p:spPr>
          <a:xfrm>
            <a:off x="804672" y="1984248"/>
            <a:ext cx="2249424" cy="640080"/>
          </a:xfrm>
          <a:prstGeom prst="rect">
            <a:avLst/>
          </a:prstGeom>
          <a:noFill/>
          <a:ln/>
        </p:spPr>
        <p:txBody>
          <a:bodyPr wrap="square" lIns="0" tIns="0" rIns="0" bIns="0" rtlCol="0" anchor="ctr"/>
          <a:lstStyle/>
          <a:p>
            <a:pPr indent="0" marL="0">
              <a:lnSpc>
                <a:spcPct val="110000"/>
              </a:lnSpc>
              <a:buNone/>
            </a:pPr>
            <a:r>
              <a:rPr lang="en-US" sz="1300" b="1" dirty="0">
                <a:solidFill>
                  <a:srgbClr val="0B3D5C"/>
                </a:solidFill>
                <a:latin typeface="Calibri" pitchFamily="34" charset="0"/>
                <a:ea typeface="Calibri" pitchFamily="34" charset="-122"/>
                <a:cs typeface="Calibri" pitchFamily="34" charset="-120"/>
              </a:rPr>
              <a:t>Overview</a:t>
            </a:r>
            <a:endParaRPr lang="en-US" sz="1300" dirty="0"/>
          </a:p>
        </p:txBody>
      </p:sp>
      <p:sp>
        <p:nvSpPr>
          <p:cNvPr id="7" name="Text 5"/>
          <p:cNvSpPr txBox="1"/>
          <p:nvPr/>
        </p:nvSpPr>
        <p:spPr>
          <a:xfrm>
            <a:off x="804672" y="2651760"/>
            <a:ext cx="2249424" cy="228600"/>
          </a:xfrm>
          <a:prstGeom prst="rect">
            <a:avLst/>
          </a:prstGeom>
          <a:noFill/>
          <a:ln/>
        </p:spPr>
        <p:txBody>
          <a:bodyPr wrap="square" lIns="0" tIns="0" rIns="0" bIns="0" rtlCol="0" anchor="ctr"/>
          <a:lstStyle/>
          <a:p>
            <a:pPr indent="0" marL="0">
              <a:buNone/>
            </a:pPr>
            <a:r>
              <a:rPr lang="en-US" sz="950" b="1" dirty="0">
                <a:solidFill>
                  <a:srgbClr val="1C7293"/>
                </a:solidFill>
                <a:latin typeface="Calibri" pitchFamily="34" charset="0"/>
                <a:ea typeface="Calibri" pitchFamily="34" charset="-122"/>
                <a:cs typeface="Calibri" pitchFamily="34" charset="-120"/>
              </a:rPr>
              <a:t>Filters</a:t>
            </a:r>
            <a:endParaRPr lang="en-US" sz="950" dirty="0"/>
          </a:p>
        </p:txBody>
      </p:sp>
      <p:sp>
        <p:nvSpPr>
          <p:cNvPr id="8" name="Text 6"/>
          <p:cNvSpPr txBox="1"/>
          <p:nvPr/>
        </p:nvSpPr>
        <p:spPr>
          <a:xfrm>
            <a:off x="804672" y="2862072"/>
            <a:ext cx="2249424" cy="411480"/>
          </a:xfrm>
          <a:prstGeom prst="rect">
            <a:avLst/>
          </a:prstGeom>
          <a:noFill/>
          <a:ln/>
        </p:spPr>
        <p:txBody>
          <a:bodyPr wrap="square" lIns="0" tIns="0" rIns="0" bIns="0" rtlCol="0" anchor="ctr"/>
          <a:lstStyle/>
          <a:p>
            <a:pPr indent="0" marL="0">
              <a:lnSpc>
                <a:spcPct val="115000"/>
              </a:lnSpc>
              <a:buNone/>
            </a:pPr>
            <a:r>
              <a:rPr lang="en-US" sz="1000" dirty="0">
                <a:solidFill>
                  <a:srgbClr val="5B6B76"/>
                </a:solidFill>
                <a:latin typeface="Calibri" pitchFamily="34" charset="0"/>
                <a:ea typeface="Calibri" pitchFamily="34" charset="-122"/>
                <a:cs typeface="Calibri" pitchFamily="34" charset="-120"/>
              </a:rPr>
              <a:t>Date, Merchant Category, Status, UTR</a:t>
            </a:r>
            <a:endParaRPr lang="en-US" sz="1000" dirty="0"/>
          </a:p>
        </p:txBody>
      </p:sp>
      <p:sp>
        <p:nvSpPr>
          <p:cNvPr id="9" name="Text 7"/>
          <p:cNvSpPr txBox="1"/>
          <p:nvPr/>
        </p:nvSpPr>
        <p:spPr>
          <a:xfrm>
            <a:off x="804672" y="3182112"/>
            <a:ext cx="2249424" cy="320040"/>
          </a:xfrm>
          <a:prstGeom prst="rect">
            <a:avLst/>
          </a:prstGeom>
          <a:noFill/>
          <a:ln/>
        </p:spPr>
        <p:txBody>
          <a:bodyPr wrap="square" lIns="0" tIns="0" rIns="0" bIns="0" rtlCol="0" anchor="ctr"/>
          <a:lstStyle/>
          <a:p>
            <a:pPr indent="0" marL="0">
              <a:buNone/>
            </a:pPr>
            <a:r>
              <a:rPr lang="en-US" sz="950" i="1" dirty="0">
                <a:solidFill>
                  <a:srgbClr val="5B6B76"/>
                </a:solidFill>
                <a:latin typeface="Calibri" pitchFamily="34" charset="0"/>
                <a:ea typeface="Calibri" pitchFamily="34" charset="-122"/>
                <a:cs typeface="Calibri" pitchFamily="34" charset="-120"/>
              </a:rPr>
              <a:t>KPI cards + trend charts</a:t>
            </a:r>
            <a:endParaRPr lang="en-US" sz="950" dirty="0"/>
          </a:p>
        </p:txBody>
      </p:sp>
      <p:sp>
        <p:nvSpPr>
          <p:cNvPr id="10" name="Shape 8"/>
          <p:cNvSpPr/>
          <p:nvPr/>
        </p:nvSpPr>
        <p:spPr>
          <a:xfrm>
            <a:off x="3438144" y="1600200"/>
            <a:ext cx="2578608" cy="1965960"/>
          </a:xfrm>
          <a:prstGeom prst="roundRect">
            <a:avLst>
              <a:gd name="adj" fmla="val 4651"/>
            </a:avLst>
          </a:prstGeom>
          <a:solidFill>
            <a:srgbClr val="FFFFFF"/>
          </a:solidFill>
          <a:ln w="12700">
            <a:solidFill>
              <a:srgbClr val="DCE6EA"/>
            </a:solidFill>
            <a:prstDash val="solid"/>
          </a:ln>
          <a:effectLst>
            <a:outerShdw sx="100000" sy="100000" kx="0" ky="0" algn="bl" rotWithShape="0" blurRad="63500" dist="25400" dir="5400000">
              <a:srgbClr val="0B3D5C">
                <a:alpha val="10000"/>
              </a:srgbClr>
            </a:outerShdw>
          </a:effectLst>
        </p:spPr>
      </p:sp>
      <p:sp>
        <p:nvSpPr>
          <p:cNvPr id="11" name="Shape 9"/>
          <p:cNvSpPr/>
          <p:nvPr/>
        </p:nvSpPr>
        <p:spPr>
          <a:xfrm>
            <a:off x="3602736" y="1783080"/>
            <a:ext cx="2249424" cy="82296"/>
          </a:xfrm>
          <a:prstGeom prst="roundRect">
            <a:avLst>
              <a:gd name="adj" fmla="val 44444"/>
            </a:avLst>
          </a:prstGeom>
          <a:solidFill>
            <a:srgbClr val="1C7293"/>
          </a:solidFill>
          <a:ln/>
        </p:spPr>
      </p:sp>
      <p:sp>
        <p:nvSpPr>
          <p:cNvPr id="12" name="Text 10"/>
          <p:cNvSpPr txBox="1"/>
          <p:nvPr/>
        </p:nvSpPr>
        <p:spPr>
          <a:xfrm>
            <a:off x="3602736" y="1984248"/>
            <a:ext cx="2249424" cy="640080"/>
          </a:xfrm>
          <a:prstGeom prst="rect">
            <a:avLst/>
          </a:prstGeom>
          <a:noFill/>
          <a:ln/>
        </p:spPr>
        <p:txBody>
          <a:bodyPr wrap="square" lIns="0" tIns="0" rIns="0" bIns="0" rtlCol="0" anchor="ctr"/>
          <a:lstStyle/>
          <a:p>
            <a:pPr indent="0" marL="0">
              <a:lnSpc>
                <a:spcPct val="110000"/>
              </a:lnSpc>
              <a:buNone/>
            </a:pPr>
            <a:r>
              <a:rPr lang="en-US" sz="1300" b="1" dirty="0">
                <a:solidFill>
                  <a:srgbClr val="0B3D5C"/>
                </a:solidFill>
                <a:latin typeface="Calibri" pitchFamily="34" charset="0"/>
                <a:ea typeface="Calibri" pitchFamily="34" charset="-122"/>
                <a:cs typeface="Calibri" pitchFamily="34" charset="-120"/>
              </a:rPr>
              <a:t>Fraud &amp; Dispute Analysis</a:t>
            </a:r>
            <a:endParaRPr lang="en-US" sz="1300" dirty="0"/>
          </a:p>
        </p:txBody>
      </p:sp>
      <p:sp>
        <p:nvSpPr>
          <p:cNvPr id="13" name="Text 11"/>
          <p:cNvSpPr txBox="1"/>
          <p:nvPr/>
        </p:nvSpPr>
        <p:spPr>
          <a:xfrm>
            <a:off x="3602736" y="2651760"/>
            <a:ext cx="2249424" cy="228600"/>
          </a:xfrm>
          <a:prstGeom prst="rect">
            <a:avLst/>
          </a:prstGeom>
          <a:noFill/>
          <a:ln/>
        </p:spPr>
        <p:txBody>
          <a:bodyPr wrap="square" lIns="0" tIns="0" rIns="0" bIns="0" rtlCol="0" anchor="ctr"/>
          <a:lstStyle/>
          <a:p>
            <a:pPr indent="0" marL="0">
              <a:buNone/>
            </a:pPr>
            <a:r>
              <a:rPr lang="en-US" sz="950" b="1" dirty="0">
                <a:solidFill>
                  <a:srgbClr val="1C7293"/>
                </a:solidFill>
                <a:latin typeface="Calibri" pitchFamily="34" charset="0"/>
                <a:ea typeface="Calibri" pitchFamily="34" charset="-122"/>
                <a:cs typeface="Calibri" pitchFamily="34" charset="-120"/>
              </a:rPr>
              <a:t>Filters</a:t>
            </a:r>
            <a:endParaRPr lang="en-US" sz="950" dirty="0"/>
          </a:p>
        </p:txBody>
      </p:sp>
      <p:sp>
        <p:nvSpPr>
          <p:cNvPr id="14" name="Text 12"/>
          <p:cNvSpPr txBox="1"/>
          <p:nvPr/>
        </p:nvSpPr>
        <p:spPr>
          <a:xfrm>
            <a:off x="3602736" y="2862072"/>
            <a:ext cx="2249424" cy="411480"/>
          </a:xfrm>
          <a:prstGeom prst="rect">
            <a:avLst/>
          </a:prstGeom>
          <a:noFill/>
          <a:ln/>
        </p:spPr>
        <p:txBody>
          <a:bodyPr wrap="square" lIns="0" tIns="0" rIns="0" bIns="0" rtlCol="0" anchor="ctr"/>
          <a:lstStyle/>
          <a:p>
            <a:pPr indent="0" marL="0">
              <a:lnSpc>
                <a:spcPct val="115000"/>
              </a:lnSpc>
              <a:buNone/>
            </a:pPr>
            <a:r>
              <a:rPr lang="en-US" sz="1000" dirty="0">
                <a:solidFill>
                  <a:srgbClr val="5B6B76"/>
                </a:solidFill>
                <a:latin typeface="Calibri" pitchFamily="34" charset="0"/>
                <a:ea typeface="Calibri" pitchFamily="34" charset="-122"/>
                <a:cs typeface="Calibri" pitchFamily="34" charset="-120"/>
              </a:rPr>
              <a:t>Delay bucket, Resolution, Channel</a:t>
            </a:r>
            <a:endParaRPr lang="en-US" sz="1000" dirty="0"/>
          </a:p>
        </p:txBody>
      </p:sp>
      <p:sp>
        <p:nvSpPr>
          <p:cNvPr id="15" name="Text 13"/>
          <p:cNvSpPr txBox="1"/>
          <p:nvPr/>
        </p:nvSpPr>
        <p:spPr>
          <a:xfrm>
            <a:off x="3602736" y="3182112"/>
            <a:ext cx="2249424" cy="320040"/>
          </a:xfrm>
          <a:prstGeom prst="rect">
            <a:avLst/>
          </a:prstGeom>
          <a:noFill/>
          <a:ln/>
        </p:spPr>
        <p:txBody>
          <a:bodyPr wrap="square" lIns="0" tIns="0" rIns="0" bIns="0" rtlCol="0" anchor="ctr"/>
          <a:lstStyle/>
          <a:p>
            <a:pPr indent="0" marL="0">
              <a:buNone/>
            </a:pPr>
            <a:r>
              <a:rPr lang="en-US" sz="950" i="1" dirty="0">
                <a:solidFill>
                  <a:srgbClr val="5B6B76"/>
                </a:solidFill>
                <a:latin typeface="Calibri" pitchFamily="34" charset="0"/>
                <a:ea typeface="Calibri" pitchFamily="34" charset="-122"/>
                <a:cs typeface="Calibri" pitchFamily="34" charset="-120"/>
              </a:rPr>
              <a:t>Category breakdowns</a:t>
            </a:r>
            <a:endParaRPr lang="en-US" sz="950" dirty="0"/>
          </a:p>
        </p:txBody>
      </p:sp>
      <p:sp>
        <p:nvSpPr>
          <p:cNvPr id="16" name="Shape 14"/>
          <p:cNvSpPr/>
          <p:nvPr/>
        </p:nvSpPr>
        <p:spPr>
          <a:xfrm>
            <a:off x="6236208" y="1600200"/>
            <a:ext cx="2578608" cy="1965960"/>
          </a:xfrm>
          <a:prstGeom prst="roundRect">
            <a:avLst>
              <a:gd name="adj" fmla="val 4651"/>
            </a:avLst>
          </a:prstGeom>
          <a:solidFill>
            <a:srgbClr val="FFFFFF"/>
          </a:solidFill>
          <a:ln w="12700">
            <a:solidFill>
              <a:srgbClr val="DCE6EA"/>
            </a:solidFill>
            <a:prstDash val="solid"/>
          </a:ln>
          <a:effectLst>
            <a:outerShdw sx="100000" sy="100000" kx="0" ky="0" algn="bl" rotWithShape="0" blurRad="63500" dist="25400" dir="5400000">
              <a:srgbClr val="0B3D5C">
                <a:alpha val="10000"/>
              </a:srgbClr>
            </a:outerShdw>
          </a:effectLst>
        </p:spPr>
      </p:sp>
      <p:sp>
        <p:nvSpPr>
          <p:cNvPr id="17" name="Shape 15"/>
          <p:cNvSpPr/>
          <p:nvPr/>
        </p:nvSpPr>
        <p:spPr>
          <a:xfrm>
            <a:off x="6400800" y="1783080"/>
            <a:ext cx="2249424" cy="82296"/>
          </a:xfrm>
          <a:prstGeom prst="roundRect">
            <a:avLst>
              <a:gd name="adj" fmla="val 44444"/>
            </a:avLst>
          </a:prstGeom>
          <a:solidFill>
            <a:srgbClr val="1C7293"/>
          </a:solidFill>
          <a:ln/>
        </p:spPr>
      </p:sp>
      <p:sp>
        <p:nvSpPr>
          <p:cNvPr id="18" name="Text 16"/>
          <p:cNvSpPr txBox="1"/>
          <p:nvPr/>
        </p:nvSpPr>
        <p:spPr>
          <a:xfrm>
            <a:off x="6400800" y="1984248"/>
            <a:ext cx="2249424" cy="640080"/>
          </a:xfrm>
          <a:prstGeom prst="rect">
            <a:avLst/>
          </a:prstGeom>
          <a:noFill/>
          <a:ln/>
        </p:spPr>
        <p:txBody>
          <a:bodyPr wrap="square" lIns="0" tIns="0" rIns="0" bIns="0" rtlCol="0" anchor="ctr"/>
          <a:lstStyle/>
          <a:p>
            <a:pPr indent="0" marL="0">
              <a:lnSpc>
                <a:spcPct val="110000"/>
              </a:lnSpc>
              <a:buNone/>
            </a:pPr>
            <a:r>
              <a:rPr lang="en-US" sz="1300" b="1" dirty="0">
                <a:solidFill>
                  <a:srgbClr val="0B3D5C"/>
                </a:solidFill>
                <a:latin typeface="Calibri" pitchFamily="34" charset="0"/>
                <a:ea typeface="Calibri" pitchFamily="34" charset="-122"/>
                <a:cs typeface="Calibri" pitchFamily="34" charset="-120"/>
              </a:rPr>
              <a:t>Customer Risk &amp; Data Quality</a:t>
            </a:r>
            <a:endParaRPr lang="en-US" sz="1300" dirty="0"/>
          </a:p>
        </p:txBody>
      </p:sp>
      <p:sp>
        <p:nvSpPr>
          <p:cNvPr id="19" name="Text 17"/>
          <p:cNvSpPr txBox="1"/>
          <p:nvPr/>
        </p:nvSpPr>
        <p:spPr>
          <a:xfrm>
            <a:off x="6400800" y="2651760"/>
            <a:ext cx="2249424" cy="228600"/>
          </a:xfrm>
          <a:prstGeom prst="rect">
            <a:avLst/>
          </a:prstGeom>
          <a:noFill/>
          <a:ln/>
        </p:spPr>
        <p:txBody>
          <a:bodyPr wrap="square" lIns="0" tIns="0" rIns="0" bIns="0" rtlCol="0" anchor="ctr"/>
          <a:lstStyle/>
          <a:p>
            <a:pPr indent="0" marL="0">
              <a:buNone/>
            </a:pPr>
            <a:r>
              <a:rPr lang="en-US" sz="950" b="1" dirty="0">
                <a:solidFill>
                  <a:srgbClr val="1C7293"/>
                </a:solidFill>
                <a:latin typeface="Calibri" pitchFamily="34" charset="0"/>
                <a:ea typeface="Calibri" pitchFamily="34" charset="-122"/>
                <a:cs typeface="Calibri" pitchFamily="34" charset="-120"/>
              </a:rPr>
              <a:t>Filters</a:t>
            </a:r>
            <a:endParaRPr lang="en-US" sz="950" dirty="0"/>
          </a:p>
        </p:txBody>
      </p:sp>
      <p:sp>
        <p:nvSpPr>
          <p:cNvPr id="20" name="Text 18"/>
          <p:cNvSpPr txBox="1"/>
          <p:nvPr/>
        </p:nvSpPr>
        <p:spPr>
          <a:xfrm>
            <a:off x="6400800" y="2862072"/>
            <a:ext cx="2249424" cy="411480"/>
          </a:xfrm>
          <a:prstGeom prst="rect">
            <a:avLst/>
          </a:prstGeom>
          <a:noFill/>
          <a:ln/>
        </p:spPr>
        <p:txBody>
          <a:bodyPr wrap="square" lIns="0" tIns="0" rIns="0" bIns="0" rtlCol="0" anchor="ctr"/>
          <a:lstStyle/>
          <a:p>
            <a:pPr indent="0" marL="0">
              <a:lnSpc>
                <a:spcPct val="115000"/>
              </a:lnSpc>
              <a:buNone/>
            </a:pPr>
            <a:r>
              <a:rPr lang="en-US" sz="1000" dirty="0">
                <a:solidFill>
                  <a:srgbClr val="5B6B76"/>
                </a:solidFill>
                <a:latin typeface="Calibri" pitchFamily="34" charset="0"/>
                <a:ea typeface="Calibri" pitchFamily="34" charset="-122"/>
                <a:cs typeface="Calibri" pitchFamily="34" charset="-120"/>
              </a:rPr>
              <a:t>KYC status, Risk segment</a:t>
            </a:r>
            <a:endParaRPr lang="en-US" sz="1000" dirty="0"/>
          </a:p>
        </p:txBody>
      </p:sp>
      <p:sp>
        <p:nvSpPr>
          <p:cNvPr id="21" name="Text 19"/>
          <p:cNvSpPr txBox="1"/>
          <p:nvPr/>
        </p:nvSpPr>
        <p:spPr>
          <a:xfrm>
            <a:off x="6400800" y="3182112"/>
            <a:ext cx="2249424" cy="320040"/>
          </a:xfrm>
          <a:prstGeom prst="rect">
            <a:avLst/>
          </a:prstGeom>
          <a:noFill/>
          <a:ln/>
        </p:spPr>
        <p:txBody>
          <a:bodyPr wrap="square" lIns="0" tIns="0" rIns="0" bIns="0" rtlCol="0" anchor="ctr"/>
          <a:lstStyle/>
          <a:p>
            <a:pPr indent="0" marL="0">
              <a:buNone/>
            </a:pPr>
            <a:r>
              <a:rPr lang="en-US" sz="950" i="1" dirty="0">
                <a:solidFill>
                  <a:srgbClr val="5B6B76"/>
                </a:solidFill>
                <a:latin typeface="Calibri" pitchFamily="34" charset="0"/>
                <a:ea typeface="Calibri" pitchFamily="34" charset="-122"/>
                <a:cs typeface="Calibri" pitchFamily="34" charset="-120"/>
              </a:rPr>
              <a:t>Ranked tables</a:t>
            </a:r>
            <a:endParaRPr lang="en-US" sz="950" dirty="0"/>
          </a:p>
        </p:txBody>
      </p:sp>
      <p:sp>
        <p:nvSpPr>
          <p:cNvPr id="22" name="Shape 20"/>
          <p:cNvSpPr/>
          <p:nvPr/>
        </p:nvSpPr>
        <p:spPr>
          <a:xfrm>
            <a:off x="9034272" y="1600200"/>
            <a:ext cx="2578608" cy="1965960"/>
          </a:xfrm>
          <a:prstGeom prst="roundRect">
            <a:avLst>
              <a:gd name="adj" fmla="val 4651"/>
            </a:avLst>
          </a:prstGeom>
          <a:solidFill>
            <a:srgbClr val="FFFFFF"/>
          </a:solidFill>
          <a:ln w="12700">
            <a:solidFill>
              <a:srgbClr val="DCE6EA"/>
            </a:solidFill>
            <a:prstDash val="solid"/>
          </a:ln>
          <a:effectLst>
            <a:outerShdw sx="100000" sy="100000" kx="0" ky="0" algn="bl" rotWithShape="0" blurRad="63500" dist="25400" dir="5400000">
              <a:srgbClr val="0B3D5C">
                <a:alpha val="10000"/>
              </a:srgbClr>
            </a:outerShdw>
          </a:effectLst>
        </p:spPr>
      </p:sp>
      <p:sp>
        <p:nvSpPr>
          <p:cNvPr id="23" name="Shape 21"/>
          <p:cNvSpPr/>
          <p:nvPr/>
        </p:nvSpPr>
        <p:spPr>
          <a:xfrm>
            <a:off x="9198864" y="1783080"/>
            <a:ext cx="2249424" cy="82296"/>
          </a:xfrm>
          <a:prstGeom prst="roundRect">
            <a:avLst>
              <a:gd name="adj" fmla="val 44444"/>
            </a:avLst>
          </a:prstGeom>
          <a:solidFill>
            <a:srgbClr val="1C7293"/>
          </a:solidFill>
          <a:ln/>
        </p:spPr>
      </p:sp>
      <p:sp>
        <p:nvSpPr>
          <p:cNvPr id="24" name="Text 22"/>
          <p:cNvSpPr txBox="1"/>
          <p:nvPr/>
        </p:nvSpPr>
        <p:spPr>
          <a:xfrm>
            <a:off x="9198864" y="1984248"/>
            <a:ext cx="2249424" cy="640080"/>
          </a:xfrm>
          <a:prstGeom prst="rect">
            <a:avLst/>
          </a:prstGeom>
          <a:noFill/>
          <a:ln/>
        </p:spPr>
        <p:txBody>
          <a:bodyPr wrap="square" lIns="0" tIns="0" rIns="0" bIns="0" rtlCol="0" anchor="ctr"/>
          <a:lstStyle/>
          <a:p>
            <a:pPr indent="0" marL="0">
              <a:lnSpc>
                <a:spcPct val="110000"/>
              </a:lnSpc>
              <a:buNone/>
            </a:pPr>
            <a:r>
              <a:rPr lang="en-US" sz="1300" b="1" dirty="0">
                <a:solidFill>
                  <a:srgbClr val="0B3D5C"/>
                </a:solidFill>
                <a:latin typeface="Calibri" pitchFamily="34" charset="0"/>
                <a:ea typeface="Calibri" pitchFamily="34" charset="-122"/>
                <a:cs typeface="Calibri" pitchFamily="34" charset="-120"/>
              </a:rPr>
              <a:t>Fraud-Ring Spotlight</a:t>
            </a:r>
            <a:endParaRPr lang="en-US" sz="1300" dirty="0"/>
          </a:p>
        </p:txBody>
      </p:sp>
      <p:sp>
        <p:nvSpPr>
          <p:cNvPr id="25" name="Text 23"/>
          <p:cNvSpPr txBox="1"/>
          <p:nvPr/>
        </p:nvSpPr>
        <p:spPr>
          <a:xfrm>
            <a:off x="9198864" y="2651760"/>
            <a:ext cx="2249424" cy="228600"/>
          </a:xfrm>
          <a:prstGeom prst="rect">
            <a:avLst/>
          </a:prstGeom>
          <a:noFill/>
          <a:ln/>
        </p:spPr>
        <p:txBody>
          <a:bodyPr wrap="square" lIns="0" tIns="0" rIns="0" bIns="0" rtlCol="0" anchor="ctr"/>
          <a:lstStyle/>
          <a:p>
            <a:pPr indent="0" marL="0">
              <a:buNone/>
            </a:pPr>
            <a:r>
              <a:rPr lang="en-US" sz="950" b="1" dirty="0">
                <a:solidFill>
                  <a:srgbClr val="1C7293"/>
                </a:solidFill>
                <a:latin typeface="Calibri" pitchFamily="34" charset="0"/>
                <a:ea typeface="Calibri" pitchFamily="34" charset="-122"/>
                <a:cs typeface="Calibri" pitchFamily="34" charset="-120"/>
              </a:rPr>
              <a:t>Filters</a:t>
            </a:r>
            <a:endParaRPr lang="en-US" sz="950" dirty="0"/>
          </a:p>
        </p:txBody>
      </p:sp>
      <p:sp>
        <p:nvSpPr>
          <p:cNvPr id="26" name="Text 24"/>
          <p:cNvSpPr txBox="1"/>
          <p:nvPr/>
        </p:nvSpPr>
        <p:spPr>
          <a:xfrm>
            <a:off x="9198864" y="2862072"/>
            <a:ext cx="2249424" cy="411480"/>
          </a:xfrm>
          <a:prstGeom prst="rect">
            <a:avLst/>
          </a:prstGeom>
          <a:noFill/>
          <a:ln/>
        </p:spPr>
        <p:txBody>
          <a:bodyPr wrap="square" lIns="0" tIns="0" rIns="0" bIns="0" rtlCol="0" anchor="ctr"/>
          <a:lstStyle/>
          <a:p>
            <a:pPr indent="0" marL="0">
              <a:lnSpc>
                <a:spcPct val="115000"/>
              </a:lnSpc>
              <a:buNone/>
            </a:pPr>
            <a:r>
              <a:rPr lang="en-US" sz="1000" dirty="0">
                <a:solidFill>
                  <a:srgbClr val="5B6B76"/>
                </a:solidFill>
                <a:latin typeface="Calibri" pitchFamily="34" charset="0"/>
                <a:ea typeface="Calibri" pitchFamily="34" charset="-122"/>
                <a:cs typeface="Calibri" pitchFamily="34" charset="-120"/>
              </a:rPr>
              <a:t>Merchant category / status</a:t>
            </a:r>
            <a:endParaRPr lang="en-US" sz="1000" dirty="0"/>
          </a:p>
        </p:txBody>
      </p:sp>
      <p:sp>
        <p:nvSpPr>
          <p:cNvPr id="27" name="Text 25"/>
          <p:cNvSpPr txBox="1"/>
          <p:nvPr/>
        </p:nvSpPr>
        <p:spPr>
          <a:xfrm>
            <a:off x="9198864" y="3182112"/>
            <a:ext cx="2249424" cy="320040"/>
          </a:xfrm>
          <a:prstGeom prst="rect">
            <a:avLst/>
          </a:prstGeom>
          <a:noFill/>
          <a:ln/>
        </p:spPr>
        <p:txBody>
          <a:bodyPr wrap="square" lIns="0" tIns="0" rIns="0" bIns="0" rtlCol="0" anchor="ctr"/>
          <a:lstStyle/>
          <a:p>
            <a:pPr indent="0" marL="0">
              <a:buNone/>
            </a:pPr>
            <a:r>
              <a:rPr lang="en-US" sz="950" i="1" dirty="0">
                <a:solidFill>
                  <a:srgbClr val="5B6B76"/>
                </a:solidFill>
                <a:latin typeface="Calibri" pitchFamily="34" charset="0"/>
                <a:ea typeface="Calibri" pitchFamily="34" charset="-122"/>
                <a:cs typeface="Calibri" pitchFamily="34" charset="-120"/>
              </a:rPr>
              <a:t>One-click insight flags</a:t>
            </a:r>
            <a:endParaRPr lang="en-US" sz="950" dirty="0"/>
          </a:p>
        </p:txBody>
      </p:sp>
      <p:sp>
        <p:nvSpPr>
          <p:cNvPr id="28" name="Text 26"/>
          <p:cNvSpPr txBox="1"/>
          <p:nvPr/>
        </p:nvSpPr>
        <p:spPr>
          <a:xfrm>
            <a:off x="640080" y="3886200"/>
            <a:ext cx="5486400" cy="320040"/>
          </a:xfrm>
          <a:prstGeom prst="rect">
            <a:avLst/>
          </a:prstGeom>
          <a:noFill/>
          <a:ln/>
        </p:spPr>
        <p:txBody>
          <a:bodyPr wrap="square" lIns="0" tIns="0" rIns="0" bIns="0"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KPI categories powering every page</a:t>
            </a:r>
            <a:endParaRPr lang="en-US" sz="1400" dirty="0"/>
          </a:p>
        </p:txBody>
      </p:sp>
      <p:sp>
        <p:nvSpPr>
          <p:cNvPr id="29" name="Shape 27"/>
          <p:cNvSpPr/>
          <p:nvPr/>
        </p:nvSpPr>
        <p:spPr>
          <a:xfrm>
            <a:off x="640080" y="4279392"/>
            <a:ext cx="1737360" cy="384048"/>
          </a:xfrm>
          <a:prstGeom prst="roundRect">
            <a:avLst>
              <a:gd name="adj" fmla="val 50000"/>
            </a:avLst>
          </a:prstGeom>
          <a:solidFill>
            <a:srgbClr val="F4F8FA"/>
          </a:solidFill>
          <a:ln w="12700">
            <a:solidFill>
              <a:srgbClr val="DCE6EA"/>
            </a:solidFill>
            <a:prstDash val="solid"/>
          </a:ln>
        </p:spPr>
      </p:sp>
      <p:sp>
        <p:nvSpPr>
          <p:cNvPr id="30" name="Text 28"/>
          <p:cNvSpPr txBox="1"/>
          <p:nvPr/>
        </p:nvSpPr>
        <p:spPr>
          <a:xfrm>
            <a:off x="640080" y="4279392"/>
            <a:ext cx="1737360" cy="384048"/>
          </a:xfrm>
          <a:prstGeom prst="rect">
            <a:avLst/>
          </a:prstGeom>
          <a:noFill/>
          <a:ln/>
        </p:spPr>
        <p:txBody>
          <a:bodyPr wrap="square" lIns="0" tIns="0" rIns="0" bIns="0" rtlCol="0" anchor="ctr"/>
          <a:lstStyle/>
          <a:p>
            <a:pPr algn="ctr" indent="0" marL="0">
              <a:buNone/>
            </a:pPr>
            <a:r>
              <a:rPr lang="en-US" sz="1100" b="1" dirty="0">
                <a:solidFill>
                  <a:srgbClr val="0B3D5C"/>
                </a:solidFill>
                <a:latin typeface="Calibri" pitchFamily="34" charset="0"/>
                <a:ea typeface="Calibri" pitchFamily="34" charset="-122"/>
                <a:cs typeface="Calibri" pitchFamily="34" charset="-120"/>
              </a:rPr>
              <a:t>Volume &amp; Value</a:t>
            </a:r>
            <a:endParaRPr lang="en-US" sz="1100" dirty="0"/>
          </a:p>
        </p:txBody>
      </p:sp>
      <p:sp>
        <p:nvSpPr>
          <p:cNvPr id="31" name="Shape 29"/>
          <p:cNvSpPr/>
          <p:nvPr/>
        </p:nvSpPr>
        <p:spPr>
          <a:xfrm>
            <a:off x="2560320" y="4279392"/>
            <a:ext cx="1554480" cy="384048"/>
          </a:xfrm>
          <a:prstGeom prst="roundRect">
            <a:avLst>
              <a:gd name="adj" fmla="val 50000"/>
            </a:avLst>
          </a:prstGeom>
          <a:solidFill>
            <a:srgbClr val="F4F8FA"/>
          </a:solidFill>
          <a:ln w="12700">
            <a:solidFill>
              <a:srgbClr val="DCE6EA"/>
            </a:solidFill>
            <a:prstDash val="solid"/>
          </a:ln>
        </p:spPr>
      </p:sp>
      <p:sp>
        <p:nvSpPr>
          <p:cNvPr id="32" name="Text 30"/>
          <p:cNvSpPr txBox="1"/>
          <p:nvPr/>
        </p:nvSpPr>
        <p:spPr>
          <a:xfrm>
            <a:off x="2560320" y="4279392"/>
            <a:ext cx="1554480" cy="384048"/>
          </a:xfrm>
          <a:prstGeom prst="rect">
            <a:avLst/>
          </a:prstGeom>
          <a:noFill/>
          <a:ln/>
        </p:spPr>
        <p:txBody>
          <a:bodyPr wrap="square" lIns="0" tIns="0" rIns="0" bIns="0" rtlCol="0" anchor="ctr"/>
          <a:lstStyle/>
          <a:p>
            <a:pPr algn="ctr" indent="0" marL="0">
              <a:buNone/>
            </a:pPr>
            <a:r>
              <a:rPr lang="en-US" sz="1100" b="1" dirty="0">
                <a:solidFill>
                  <a:srgbClr val="0B3D5C"/>
                </a:solidFill>
                <a:latin typeface="Calibri" pitchFamily="34" charset="0"/>
                <a:ea typeface="Calibri" pitchFamily="34" charset="-122"/>
                <a:cs typeface="Calibri" pitchFamily="34" charset="-120"/>
              </a:rPr>
              <a:t>Status Rates</a:t>
            </a:r>
            <a:endParaRPr lang="en-US" sz="1100" dirty="0"/>
          </a:p>
        </p:txBody>
      </p:sp>
      <p:sp>
        <p:nvSpPr>
          <p:cNvPr id="33" name="Shape 31"/>
          <p:cNvSpPr/>
          <p:nvPr/>
        </p:nvSpPr>
        <p:spPr>
          <a:xfrm>
            <a:off x="4297680" y="4279392"/>
            <a:ext cx="1463040" cy="384048"/>
          </a:xfrm>
          <a:prstGeom prst="roundRect">
            <a:avLst>
              <a:gd name="adj" fmla="val 50000"/>
            </a:avLst>
          </a:prstGeom>
          <a:solidFill>
            <a:srgbClr val="F4F8FA"/>
          </a:solidFill>
          <a:ln w="12700">
            <a:solidFill>
              <a:srgbClr val="DCE6EA"/>
            </a:solidFill>
            <a:prstDash val="solid"/>
          </a:ln>
        </p:spPr>
      </p:sp>
      <p:sp>
        <p:nvSpPr>
          <p:cNvPr id="34" name="Text 32"/>
          <p:cNvSpPr txBox="1"/>
          <p:nvPr/>
        </p:nvSpPr>
        <p:spPr>
          <a:xfrm>
            <a:off x="4297680" y="4279392"/>
            <a:ext cx="1463040" cy="384048"/>
          </a:xfrm>
          <a:prstGeom prst="rect">
            <a:avLst/>
          </a:prstGeom>
          <a:noFill/>
          <a:ln/>
        </p:spPr>
        <p:txBody>
          <a:bodyPr wrap="square" lIns="0" tIns="0" rIns="0" bIns="0" rtlCol="0" anchor="ctr"/>
          <a:lstStyle/>
          <a:p>
            <a:pPr algn="ctr" indent="0" marL="0">
              <a:buNone/>
            </a:pPr>
            <a:r>
              <a:rPr lang="en-US" sz="1100" b="1" dirty="0">
                <a:solidFill>
                  <a:srgbClr val="0B3D5C"/>
                </a:solidFill>
                <a:latin typeface="Calibri" pitchFamily="34" charset="0"/>
                <a:ea typeface="Calibri" pitchFamily="34" charset="-122"/>
                <a:cs typeface="Calibri" pitchFamily="34" charset="-120"/>
              </a:rPr>
              <a:t>Chargebacks</a:t>
            </a:r>
            <a:endParaRPr lang="en-US" sz="1100" dirty="0"/>
          </a:p>
        </p:txBody>
      </p:sp>
      <p:sp>
        <p:nvSpPr>
          <p:cNvPr id="35" name="Shape 33"/>
          <p:cNvSpPr/>
          <p:nvPr/>
        </p:nvSpPr>
        <p:spPr>
          <a:xfrm>
            <a:off x="5943600" y="4279392"/>
            <a:ext cx="822960" cy="384048"/>
          </a:xfrm>
          <a:prstGeom prst="roundRect">
            <a:avLst>
              <a:gd name="adj" fmla="val 50000"/>
            </a:avLst>
          </a:prstGeom>
          <a:solidFill>
            <a:srgbClr val="F4F8FA"/>
          </a:solidFill>
          <a:ln w="12700">
            <a:solidFill>
              <a:srgbClr val="DCE6EA"/>
            </a:solidFill>
            <a:prstDash val="solid"/>
          </a:ln>
        </p:spPr>
      </p:sp>
      <p:sp>
        <p:nvSpPr>
          <p:cNvPr id="36" name="Text 34"/>
          <p:cNvSpPr txBox="1"/>
          <p:nvPr/>
        </p:nvSpPr>
        <p:spPr>
          <a:xfrm>
            <a:off x="5943600" y="4279392"/>
            <a:ext cx="822960" cy="384048"/>
          </a:xfrm>
          <a:prstGeom prst="rect">
            <a:avLst/>
          </a:prstGeom>
          <a:noFill/>
          <a:ln/>
        </p:spPr>
        <p:txBody>
          <a:bodyPr wrap="square" lIns="0" tIns="0" rIns="0" bIns="0" rtlCol="0" anchor="ctr"/>
          <a:lstStyle/>
          <a:p>
            <a:pPr algn="ctr" indent="0" marL="0">
              <a:buNone/>
            </a:pPr>
            <a:r>
              <a:rPr lang="en-US" sz="1100" b="1" dirty="0">
                <a:solidFill>
                  <a:srgbClr val="0B3D5C"/>
                </a:solidFill>
                <a:latin typeface="Calibri" pitchFamily="34" charset="0"/>
                <a:ea typeface="Calibri" pitchFamily="34" charset="-122"/>
                <a:cs typeface="Calibri" pitchFamily="34" charset="-120"/>
              </a:rPr>
              <a:t>Risk</a:t>
            </a:r>
            <a:endParaRPr lang="en-US" sz="1100" dirty="0"/>
          </a:p>
        </p:txBody>
      </p:sp>
      <p:sp>
        <p:nvSpPr>
          <p:cNvPr id="37" name="Shape 35"/>
          <p:cNvSpPr/>
          <p:nvPr/>
        </p:nvSpPr>
        <p:spPr>
          <a:xfrm>
            <a:off x="6949440" y="4279392"/>
            <a:ext cx="2286000" cy="384048"/>
          </a:xfrm>
          <a:prstGeom prst="roundRect">
            <a:avLst>
              <a:gd name="adj" fmla="val 50000"/>
            </a:avLst>
          </a:prstGeom>
          <a:solidFill>
            <a:srgbClr val="F4F8FA"/>
          </a:solidFill>
          <a:ln w="12700">
            <a:solidFill>
              <a:srgbClr val="DCE6EA"/>
            </a:solidFill>
            <a:prstDash val="solid"/>
          </a:ln>
        </p:spPr>
      </p:sp>
      <p:sp>
        <p:nvSpPr>
          <p:cNvPr id="38" name="Text 36"/>
          <p:cNvSpPr txBox="1"/>
          <p:nvPr/>
        </p:nvSpPr>
        <p:spPr>
          <a:xfrm>
            <a:off x="6949440" y="4279392"/>
            <a:ext cx="2286000" cy="384048"/>
          </a:xfrm>
          <a:prstGeom prst="rect">
            <a:avLst/>
          </a:prstGeom>
          <a:noFill/>
          <a:ln/>
        </p:spPr>
        <p:txBody>
          <a:bodyPr wrap="square" lIns="0" tIns="0" rIns="0" bIns="0" rtlCol="0" anchor="ctr"/>
          <a:lstStyle/>
          <a:p>
            <a:pPr algn="ctr" indent="0" marL="0">
              <a:buNone/>
            </a:pPr>
            <a:r>
              <a:rPr lang="en-US" sz="1100" b="1" dirty="0">
                <a:solidFill>
                  <a:srgbClr val="0B3D5C"/>
                </a:solidFill>
                <a:latin typeface="Calibri" pitchFamily="34" charset="0"/>
                <a:ea typeface="Calibri" pitchFamily="34" charset="-122"/>
                <a:cs typeface="Calibri" pitchFamily="34" charset="-120"/>
              </a:rPr>
              <a:t>KYC &amp; Join Integrity</a:t>
            </a:r>
            <a:endParaRPr lang="en-US" sz="1100" dirty="0"/>
          </a:p>
        </p:txBody>
      </p:sp>
      <p:sp>
        <p:nvSpPr>
          <p:cNvPr id="39" name="Text 37"/>
          <p:cNvSpPr txBox="1"/>
          <p:nvPr/>
        </p:nvSpPr>
        <p:spPr>
          <a:xfrm>
            <a:off x="640080" y="4983480"/>
            <a:ext cx="10881360" cy="685800"/>
          </a:xfrm>
          <a:prstGeom prst="rect">
            <a:avLst/>
          </a:prstGeom>
          <a:noFill/>
          <a:ln/>
        </p:spPr>
        <p:txBody>
          <a:bodyPr wrap="square" lIns="0" tIns="0" rIns="0" bIns="0" rtlCol="0" anchor="ctr"/>
          <a:lstStyle/>
          <a:p>
            <a:pPr indent="0" marL="0">
              <a:lnSpc>
                <a:spcPct val="130000"/>
              </a:lnSpc>
              <a:buNone/>
            </a:pPr>
            <a:r>
              <a:rPr lang="en-US" sz="1200" b="1" dirty="0">
                <a:solidFill>
                  <a:srgbClr val="0B3D5C"/>
                </a:solidFill>
                <a:latin typeface="Calibri" pitchFamily="34" charset="0"/>
                <a:ea typeface="Calibri" pitchFamily="34" charset="-122"/>
                <a:cs typeface="Calibri" pitchFamily="34" charset="-120"/>
              </a:rPr>
              <a:t>Same numbers everywhere: </a:t>
            </a:r>
            <a:pPr indent="0" marL="0">
              <a:lnSpc>
                <a:spcPct val="130000"/>
              </a:lnSpc>
              <a:buNone/>
            </a:pPr>
            <a:r>
              <a:rPr lang="en-US" sz="1200" dirty="0">
                <a:solidFill>
                  <a:srgbClr val="5B6B76"/>
                </a:solidFill>
                <a:latin typeface="Calibri" pitchFamily="34" charset="0"/>
                <a:ea typeface="Calibri" pitchFamily="34" charset="-122"/>
                <a:cs typeface="Calibri" pitchFamily="34" charset="-120"/>
              </a:rPr>
              <a:t>compute_metrics.py (Python) and the 30+ DAX measures both read the identical cleaned tables, so dashboard cards, Power BI tiles and chatbot answers never disagree.</a:t>
            </a:r>
            <a:endParaRPr lang="en-US" sz="1200" dirty="0"/>
          </a:p>
        </p:txBody>
      </p:sp>
      <p:sp>
        <p:nvSpPr>
          <p:cNvPr id="40" name="Text 38"/>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5B6B76"/>
                </a:solidFill>
                <a:latin typeface="Calibri" pitchFamily="34" charset="0"/>
                <a:ea typeface="Calibri" pitchFamily="34" charset="-122"/>
                <a:cs typeface="Calibri" pitchFamily="34" charset="-120"/>
              </a:rPr>
              <a:t>Analytics of TransOrg</a:t>
            </a:r>
            <a:endParaRPr lang="en-US" sz="1000" dirty="0"/>
          </a:p>
        </p:txBody>
      </p:sp>
      <p:sp>
        <p:nvSpPr>
          <p:cNvPr id="41" name="Text 39"/>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52560" y="-1828800"/>
            <a:ext cx="5486400" cy="5486400"/>
          </a:xfrm>
          <a:prstGeom prst="ellipse">
            <a:avLst/>
          </a:prstGeom>
          <a:solidFill>
            <a:srgbClr val="1C7293">
              <a:alpha val="10000"/>
            </a:srgbClr>
          </a:solidFill>
          <a:ln/>
        </p:spPr>
      </p:sp>
      <p:sp>
        <p:nvSpPr>
          <p:cNvPr id="3" name="Shape 1"/>
          <p:cNvSpPr/>
          <p:nvPr/>
        </p:nvSpPr>
        <p:spPr>
          <a:xfrm>
            <a:off x="-1280160" y="4023360"/>
            <a:ext cx="3108960" cy="3108960"/>
          </a:xfrm>
          <a:prstGeom prst="ellipse">
            <a:avLst/>
          </a:prstGeom>
          <a:solidFill>
            <a:srgbClr val="21C6A8">
              <a:alpha val="10000"/>
            </a:srgbClr>
          </a:solidFill>
          <a:ln/>
        </p:spPr>
      </p:sp>
      <p:sp>
        <p:nvSpPr>
          <p:cNvPr id="4" name="Shape 2"/>
          <p:cNvSpPr/>
          <p:nvPr/>
        </p:nvSpPr>
        <p:spPr>
          <a:xfrm>
            <a:off x="822960" y="1554480"/>
            <a:ext cx="868680" cy="868680"/>
          </a:xfrm>
          <a:prstGeom prst="ellipse">
            <a:avLst/>
          </a:prstGeom>
          <a:solidFill>
            <a:srgbClr val="0B3D5C"/>
          </a:solidFill>
          <a:ln/>
        </p:spPr>
      </p:sp>
      <p:sp>
        <p:nvSpPr>
          <p:cNvPr id="5" name="Text 3"/>
          <p:cNvSpPr txBox="1"/>
          <p:nvPr/>
        </p:nvSpPr>
        <p:spPr>
          <a:xfrm>
            <a:off x="822960" y="1554480"/>
            <a:ext cx="868680" cy="868680"/>
          </a:xfrm>
          <a:prstGeom prst="rect">
            <a:avLst/>
          </a:prstGeom>
          <a:noFill/>
          <a:ln/>
        </p:spPr>
        <p:txBody>
          <a:bodyPr wrap="square" lIns="0" tIns="0" rIns="0" bIns="0" rtlCol="0" anchor="ctr"/>
          <a:lstStyle/>
          <a:p>
            <a:pPr algn="ctr" indent="0" marL="0">
              <a:buNone/>
            </a:pPr>
            <a:r>
              <a:rPr lang="en-US" sz="3000" b="1" dirty="0">
                <a:solidFill>
                  <a:srgbClr val="21C6A8"/>
                </a:solidFill>
                <a:latin typeface="Calibri" pitchFamily="34" charset="0"/>
                <a:ea typeface="Calibri" pitchFamily="34" charset="-122"/>
                <a:cs typeface="Calibri" pitchFamily="34" charset="-120"/>
              </a:rPr>
              <a:t>3</a:t>
            </a:r>
            <a:endParaRPr lang="en-US" sz="3000" dirty="0"/>
          </a:p>
        </p:txBody>
      </p:sp>
      <p:sp>
        <p:nvSpPr>
          <p:cNvPr id="6" name="Text 4"/>
          <p:cNvSpPr txBox="1"/>
          <p:nvPr/>
        </p:nvSpPr>
        <p:spPr>
          <a:xfrm>
            <a:off x="1874520" y="1627632"/>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3 OF 3</a:t>
            </a:r>
            <a:endParaRPr lang="en-US" sz="1300" dirty="0"/>
          </a:p>
        </p:txBody>
      </p:sp>
      <p:sp>
        <p:nvSpPr>
          <p:cNvPr id="7" name="Text 5"/>
          <p:cNvSpPr txBox="1"/>
          <p:nvPr/>
        </p:nvSpPr>
        <p:spPr>
          <a:xfrm>
            <a:off x="1874520" y="1920240"/>
            <a:ext cx="8961120" cy="685800"/>
          </a:xfrm>
          <a:prstGeom prst="rect">
            <a:avLst/>
          </a:prstGeom>
          <a:noFill/>
          <a:ln/>
        </p:spPr>
        <p:txBody>
          <a:bodyPr wrap="square" lIns="0" tIns="0" rIns="0" bIns="0" rtlCol="0" anchor="ctr"/>
          <a:lstStyle/>
          <a:p>
            <a:pPr indent="0" marL="0">
              <a:buNone/>
            </a:pPr>
            <a:r>
              <a:rPr lang="en-US" sz="3000" b="1" dirty="0">
                <a:solidFill>
                  <a:srgbClr val="0B3D5C"/>
                </a:solidFill>
                <a:latin typeface="Cambria" pitchFamily="34" charset="0"/>
                <a:ea typeface="Cambria" pitchFamily="34" charset="-122"/>
                <a:cs typeface="Cambria" pitchFamily="34" charset="-120"/>
              </a:rPr>
              <a:t>Chatbot</a:t>
            </a:r>
            <a:endParaRPr lang="en-US" sz="3000" dirty="0"/>
          </a:p>
        </p:txBody>
      </p:sp>
      <p:sp>
        <p:nvSpPr>
          <p:cNvPr id="8" name="Text 6"/>
          <p:cNvSpPr txBox="1"/>
          <p:nvPr/>
        </p:nvSpPr>
        <p:spPr>
          <a:xfrm>
            <a:off x="822960" y="2880360"/>
            <a:ext cx="9692640" cy="914400"/>
          </a:xfrm>
          <a:prstGeom prst="rect">
            <a:avLst/>
          </a:prstGeom>
          <a:noFill/>
          <a:ln/>
        </p:spPr>
        <p:txBody>
          <a:bodyPr wrap="square" lIns="0" tIns="0" rIns="0" bIns="0" rtlCol="0" anchor="ctr"/>
          <a:lstStyle/>
          <a:p>
            <a:pPr indent="0" marL="0">
              <a:lnSpc>
                <a:spcPct val="135000"/>
              </a:lnSpc>
              <a:buNone/>
            </a:pPr>
            <a:r>
              <a:rPr lang="en-US" sz="1400" dirty="0">
                <a:solidFill>
                  <a:srgbClr val="5B6B76"/>
                </a:solidFill>
                <a:latin typeface="Calibri" pitchFamily="34" charset="0"/>
                <a:ea typeface="Calibri" pitchFamily="34" charset="-122"/>
                <a:cs typeface="Calibri" pitchFamily="34" charset="-120"/>
              </a:rPr>
              <a:t>A local, read-only text-to-SQL agent — 21 vetted templates answer instantly for free, and an OpenRouter LLM fallback covers anything else, both gated by the same safety guardrail.</a:t>
            </a:r>
            <a:endParaRPr lang="en-US" sz="1400" dirty="0"/>
          </a:p>
        </p:txBody>
      </p:sp>
      <p:sp>
        <p:nvSpPr>
          <p:cNvPr id="9" name="Text 7"/>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5B6B76"/>
                </a:solidFill>
                <a:latin typeface="Calibri" pitchFamily="34" charset="0"/>
                <a:ea typeface="Calibri" pitchFamily="34" charset="-122"/>
                <a:cs typeface="Calibri" pitchFamily="34" charset="-120"/>
              </a:rPr>
              <a:t>Analytics of TransOrg</a:t>
            </a:r>
            <a:endParaRPr lang="en-US" sz="1000" dirty="0"/>
          </a:p>
        </p:txBody>
      </p:sp>
      <p:sp>
        <p:nvSpPr>
          <p:cNvPr id="10" name="Text 8"/>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SECTION 3 · CHATBOT</a:t>
            </a:r>
            <a:endParaRPr lang="en-US" sz="1250" dirty="0"/>
          </a:p>
        </p:txBody>
      </p:sp>
      <p:sp>
        <p:nvSpPr>
          <p:cNvPr id="3" name="Text 1"/>
          <p:cNvSpPr txBox="1"/>
          <p:nvPr/>
        </p:nvSpPr>
        <p:spPr>
          <a:xfrm>
            <a:off x="640080" y="804672"/>
            <a:ext cx="10515600" cy="640080"/>
          </a:xfrm>
          <a:prstGeom prst="rect">
            <a:avLst/>
          </a:prstGeom>
          <a:noFill/>
          <a:ln/>
        </p:spPr>
        <p:txBody>
          <a:bodyPr wrap="square" lIns="0" tIns="0" rIns="0" bIns="0" rtlCol="0" anchor="ctr"/>
          <a:lstStyle/>
          <a:p>
            <a:pPr indent="0" marL="0">
              <a:buNone/>
            </a:pPr>
            <a:r>
              <a:rPr lang="en-US" sz="2500" b="1" dirty="0">
                <a:solidFill>
                  <a:srgbClr val="0B3D5C"/>
                </a:solidFill>
                <a:latin typeface="Cambria" pitchFamily="34" charset="0"/>
                <a:ea typeface="Cambria" pitchFamily="34" charset="-122"/>
                <a:cs typeface="Cambria" pitchFamily="34" charset="-120"/>
              </a:rPr>
              <a:t>Every answer is grounded in a real SQL query</a:t>
            </a:r>
            <a:endParaRPr lang="en-US" sz="2500" dirty="0"/>
          </a:p>
        </p:txBody>
      </p:sp>
      <p:sp>
        <p:nvSpPr>
          <p:cNvPr id="4" name="Shape 2"/>
          <p:cNvSpPr/>
          <p:nvPr/>
        </p:nvSpPr>
        <p:spPr>
          <a:xfrm>
            <a:off x="640080" y="1600200"/>
            <a:ext cx="1920240" cy="822960"/>
          </a:xfrm>
          <a:prstGeom prst="roundRect">
            <a:avLst>
              <a:gd name="adj" fmla="val 8889"/>
            </a:avLst>
          </a:prstGeom>
          <a:solidFill>
            <a:srgbClr val="F4F8FA"/>
          </a:solidFill>
          <a:ln w="12700">
            <a:solidFill>
              <a:srgbClr val="DCE6EA"/>
            </a:solidFill>
            <a:prstDash val="solid"/>
          </a:ln>
        </p:spPr>
      </p:sp>
      <p:sp>
        <p:nvSpPr>
          <p:cNvPr id="5" name="Text 3"/>
          <p:cNvSpPr txBox="1"/>
          <p:nvPr/>
        </p:nvSpPr>
        <p:spPr>
          <a:xfrm>
            <a:off x="749808" y="1709928"/>
            <a:ext cx="1700784" cy="347472"/>
          </a:xfrm>
          <a:prstGeom prst="rect">
            <a:avLst/>
          </a:prstGeom>
          <a:noFill/>
          <a:ln/>
        </p:spPr>
        <p:txBody>
          <a:bodyPr wrap="square" lIns="0" tIns="0" rIns="0" bIns="0" rtlCol="0" anchor="ctr"/>
          <a:lstStyle/>
          <a:p>
            <a:pPr indent="0" marL="0">
              <a:buNone/>
            </a:pPr>
            <a:r>
              <a:rPr lang="en-US" sz="1100" b="1" dirty="0">
                <a:solidFill>
                  <a:srgbClr val="0B3D5C"/>
                </a:solidFill>
                <a:latin typeface="Calibri" pitchFamily="34" charset="0"/>
                <a:ea typeface="Calibri" pitchFamily="34" charset="-122"/>
                <a:cs typeface="Calibri" pitchFamily="34" charset="-120"/>
              </a:rPr>
              <a:t>User question</a:t>
            </a:r>
            <a:endParaRPr lang="en-US" sz="1100" dirty="0"/>
          </a:p>
        </p:txBody>
      </p:sp>
      <p:sp>
        <p:nvSpPr>
          <p:cNvPr id="6" name="Text 4"/>
          <p:cNvSpPr txBox="1"/>
          <p:nvPr/>
        </p:nvSpPr>
        <p:spPr>
          <a:xfrm>
            <a:off x="749808" y="2057400"/>
            <a:ext cx="1700784" cy="320040"/>
          </a:xfrm>
          <a:prstGeom prst="rect">
            <a:avLst/>
          </a:prstGeom>
          <a:noFill/>
          <a:ln/>
        </p:spPr>
        <p:txBody>
          <a:bodyPr wrap="square" lIns="0" tIns="0" rIns="0" bIns="0" rtlCol="0" anchor="ctr"/>
          <a:lstStyle/>
          <a:p>
            <a:pPr indent="0" marL="0">
              <a:lnSpc>
                <a:spcPct val="110000"/>
              </a:lnSpc>
              <a:buNone/>
            </a:pPr>
            <a:r>
              <a:rPr lang="en-US" sz="900" dirty="0">
                <a:solidFill>
                  <a:srgbClr val="5B6B76"/>
                </a:solidFill>
                <a:latin typeface="Calibri" pitchFamily="34" charset="0"/>
                <a:ea typeface="Calibri" pitchFamily="34" charset="-122"/>
                <a:cs typeface="Calibri" pitchFamily="34" charset="-120"/>
              </a:rPr>
              <a:t>typed in the chat widget</a:t>
            </a:r>
            <a:endParaRPr lang="en-US" sz="900" dirty="0"/>
          </a:p>
        </p:txBody>
      </p:sp>
      <p:sp>
        <p:nvSpPr>
          <p:cNvPr id="7" name="Shape 5"/>
          <p:cNvSpPr/>
          <p:nvPr/>
        </p:nvSpPr>
        <p:spPr>
          <a:xfrm>
            <a:off x="2587752" y="1947672"/>
            <a:ext cx="182880" cy="128016"/>
          </a:xfrm>
          <a:prstGeom prst="rightArrow">
            <a:avLst/>
          </a:prstGeom>
          <a:solidFill>
            <a:srgbClr val="1C7293"/>
          </a:solidFill>
          <a:ln/>
        </p:spPr>
      </p:sp>
      <p:sp>
        <p:nvSpPr>
          <p:cNvPr id="8" name="Shape 6"/>
          <p:cNvSpPr/>
          <p:nvPr/>
        </p:nvSpPr>
        <p:spPr>
          <a:xfrm>
            <a:off x="2798064" y="1600200"/>
            <a:ext cx="2103120" cy="822960"/>
          </a:xfrm>
          <a:prstGeom prst="roundRect">
            <a:avLst>
              <a:gd name="adj" fmla="val 8889"/>
            </a:avLst>
          </a:prstGeom>
          <a:solidFill>
            <a:srgbClr val="F4F8FA"/>
          </a:solidFill>
          <a:ln w="12700">
            <a:solidFill>
              <a:srgbClr val="DCE6EA"/>
            </a:solidFill>
            <a:prstDash val="solid"/>
          </a:ln>
        </p:spPr>
      </p:sp>
      <p:sp>
        <p:nvSpPr>
          <p:cNvPr id="9" name="Text 7"/>
          <p:cNvSpPr txBox="1"/>
          <p:nvPr/>
        </p:nvSpPr>
        <p:spPr>
          <a:xfrm>
            <a:off x="2907792" y="1709928"/>
            <a:ext cx="1883664" cy="347472"/>
          </a:xfrm>
          <a:prstGeom prst="rect">
            <a:avLst/>
          </a:prstGeom>
          <a:noFill/>
          <a:ln/>
        </p:spPr>
        <p:txBody>
          <a:bodyPr wrap="square" lIns="0" tIns="0" rIns="0" bIns="0" rtlCol="0" anchor="ctr"/>
          <a:lstStyle/>
          <a:p>
            <a:pPr indent="0" marL="0">
              <a:buNone/>
            </a:pPr>
            <a:r>
              <a:rPr lang="en-US" sz="1100" b="1" dirty="0">
                <a:solidFill>
                  <a:srgbClr val="0B3D5C"/>
                </a:solidFill>
                <a:latin typeface="Calibri" pitchFamily="34" charset="0"/>
                <a:ea typeface="Calibri" pitchFamily="34" charset="-122"/>
                <a:cs typeface="Calibri" pitchFamily="34" charset="-120"/>
              </a:rPr>
              <a:t>match_intent()</a:t>
            </a:r>
            <a:endParaRPr lang="en-US" sz="1100" dirty="0"/>
          </a:p>
        </p:txBody>
      </p:sp>
      <p:sp>
        <p:nvSpPr>
          <p:cNvPr id="10" name="Text 8"/>
          <p:cNvSpPr txBox="1"/>
          <p:nvPr/>
        </p:nvSpPr>
        <p:spPr>
          <a:xfrm>
            <a:off x="2907792" y="2057400"/>
            <a:ext cx="1883664" cy="320040"/>
          </a:xfrm>
          <a:prstGeom prst="rect">
            <a:avLst/>
          </a:prstGeom>
          <a:noFill/>
          <a:ln/>
        </p:spPr>
        <p:txBody>
          <a:bodyPr wrap="square" lIns="0" tIns="0" rIns="0" bIns="0" rtlCol="0" anchor="ctr"/>
          <a:lstStyle/>
          <a:p>
            <a:pPr indent="0" marL="0">
              <a:lnSpc>
                <a:spcPct val="110000"/>
              </a:lnSpc>
              <a:buNone/>
            </a:pPr>
            <a:r>
              <a:rPr lang="en-US" sz="900" dirty="0">
                <a:solidFill>
                  <a:srgbClr val="5B6B76"/>
                </a:solidFill>
                <a:latin typeface="Calibri" pitchFamily="34" charset="0"/>
                <a:ea typeface="Calibri" pitchFamily="34" charset="-122"/>
                <a:cs typeface="Calibri" pitchFamily="34" charset="-120"/>
              </a:rPr>
              <a:t>21 local SQL templates</a:t>
            </a:r>
            <a:endParaRPr lang="en-US" sz="900" dirty="0"/>
          </a:p>
        </p:txBody>
      </p:sp>
      <p:sp>
        <p:nvSpPr>
          <p:cNvPr id="11" name="Shape 9"/>
          <p:cNvSpPr/>
          <p:nvPr/>
        </p:nvSpPr>
        <p:spPr>
          <a:xfrm>
            <a:off x="4928616" y="1947672"/>
            <a:ext cx="182880" cy="128016"/>
          </a:xfrm>
          <a:prstGeom prst="rightArrow">
            <a:avLst/>
          </a:prstGeom>
          <a:solidFill>
            <a:srgbClr val="1C7293"/>
          </a:solidFill>
          <a:ln/>
        </p:spPr>
      </p:sp>
      <p:sp>
        <p:nvSpPr>
          <p:cNvPr id="12" name="Shape 10"/>
          <p:cNvSpPr/>
          <p:nvPr/>
        </p:nvSpPr>
        <p:spPr>
          <a:xfrm>
            <a:off x="5138928" y="1600200"/>
            <a:ext cx="2103120" cy="822960"/>
          </a:xfrm>
          <a:prstGeom prst="roundRect">
            <a:avLst>
              <a:gd name="adj" fmla="val 8889"/>
            </a:avLst>
          </a:prstGeom>
          <a:solidFill>
            <a:srgbClr val="F4F8FA"/>
          </a:solidFill>
          <a:ln w="12700">
            <a:solidFill>
              <a:srgbClr val="DCE6EA"/>
            </a:solidFill>
            <a:prstDash val="solid"/>
          </a:ln>
        </p:spPr>
      </p:sp>
      <p:sp>
        <p:nvSpPr>
          <p:cNvPr id="13" name="Text 11"/>
          <p:cNvSpPr txBox="1"/>
          <p:nvPr/>
        </p:nvSpPr>
        <p:spPr>
          <a:xfrm>
            <a:off x="5248656" y="1709928"/>
            <a:ext cx="1883664" cy="347472"/>
          </a:xfrm>
          <a:prstGeom prst="rect">
            <a:avLst/>
          </a:prstGeom>
          <a:noFill/>
          <a:ln/>
        </p:spPr>
        <p:txBody>
          <a:bodyPr wrap="square" lIns="0" tIns="0" rIns="0" bIns="0" rtlCol="0" anchor="ctr"/>
          <a:lstStyle/>
          <a:p>
            <a:pPr indent="0" marL="0">
              <a:buNone/>
            </a:pPr>
            <a:r>
              <a:rPr lang="en-US" sz="1100" b="1" dirty="0">
                <a:solidFill>
                  <a:srgbClr val="0B3D5C"/>
                </a:solidFill>
                <a:latin typeface="Calibri" pitchFamily="34" charset="0"/>
                <a:ea typeface="Calibri" pitchFamily="34" charset="-122"/>
                <a:cs typeface="Calibri" pitchFamily="34" charset="-120"/>
              </a:rPr>
              <a:t>OpenRouter fallback</a:t>
            </a:r>
            <a:endParaRPr lang="en-US" sz="1100" dirty="0"/>
          </a:p>
        </p:txBody>
      </p:sp>
      <p:sp>
        <p:nvSpPr>
          <p:cNvPr id="14" name="Text 12"/>
          <p:cNvSpPr txBox="1"/>
          <p:nvPr/>
        </p:nvSpPr>
        <p:spPr>
          <a:xfrm>
            <a:off x="5248656" y="2057400"/>
            <a:ext cx="1883664" cy="320040"/>
          </a:xfrm>
          <a:prstGeom prst="rect">
            <a:avLst/>
          </a:prstGeom>
          <a:noFill/>
          <a:ln/>
        </p:spPr>
        <p:txBody>
          <a:bodyPr wrap="square" lIns="0" tIns="0" rIns="0" bIns="0" rtlCol="0" anchor="ctr"/>
          <a:lstStyle/>
          <a:p>
            <a:pPr indent="0" marL="0">
              <a:lnSpc>
                <a:spcPct val="110000"/>
              </a:lnSpc>
              <a:buNone/>
            </a:pPr>
            <a:r>
              <a:rPr lang="en-US" sz="900" dirty="0">
                <a:solidFill>
                  <a:srgbClr val="5B6B76"/>
                </a:solidFill>
                <a:latin typeface="Calibri" pitchFamily="34" charset="0"/>
                <a:ea typeface="Calibri" pitchFamily="34" charset="-122"/>
                <a:cs typeface="Calibri" pitchFamily="34" charset="-120"/>
              </a:rPr>
              <a:t>plans SQL if no template matches</a:t>
            </a:r>
            <a:endParaRPr lang="en-US" sz="900" dirty="0"/>
          </a:p>
        </p:txBody>
      </p:sp>
      <p:sp>
        <p:nvSpPr>
          <p:cNvPr id="15" name="Shape 13"/>
          <p:cNvSpPr/>
          <p:nvPr/>
        </p:nvSpPr>
        <p:spPr>
          <a:xfrm>
            <a:off x="7269480" y="1947672"/>
            <a:ext cx="182880" cy="128016"/>
          </a:xfrm>
          <a:prstGeom prst="rightArrow">
            <a:avLst/>
          </a:prstGeom>
          <a:solidFill>
            <a:srgbClr val="1C7293"/>
          </a:solidFill>
          <a:ln/>
        </p:spPr>
      </p:sp>
      <p:sp>
        <p:nvSpPr>
          <p:cNvPr id="16" name="Shape 14"/>
          <p:cNvSpPr/>
          <p:nvPr/>
        </p:nvSpPr>
        <p:spPr>
          <a:xfrm>
            <a:off x="7479792" y="1600200"/>
            <a:ext cx="2286000" cy="822960"/>
          </a:xfrm>
          <a:prstGeom prst="roundRect">
            <a:avLst>
              <a:gd name="adj" fmla="val 8889"/>
            </a:avLst>
          </a:prstGeom>
          <a:solidFill>
            <a:srgbClr val="FBE9D0"/>
          </a:solidFill>
          <a:ln w="12700">
            <a:solidFill>
              <a:srgbClr val="D97706"/>
            </a:solidFill>
            <a:prstDash val="solid"/>
          </a:ln>
        </p:spPr>
      </p:sp>
      <p:sp>
        <p:nvSpPr>
          <p:cNvPr id="17" name="Text 15"/>
          <p:cNvSpPr txBox="1"/>
          <p:nvPr/>
        </p:nvSpPr>
        <p:spPr>
          <a:xfrm>
            <a:off x="7589520" y="1709928"/>
            <a:ext cx="2066544" cy="347472"/>
          </a:xfrm>
          <a:prstGeom prst="rect">
            <a:avLst/>
          </a:prstGeom>
          <a:noFill/>
          <a:ln/>
        </p:spPr>
        <p:txBody>
          <a:bodyPr wrap="square" lIns="0" tIns="0" rIns="0" bIns="0" rtlCol="0" anchor="ctr"/>
          <a:lstStyle/>
          <a:p>
            <a:pPr indent="0" marL="0">
              <a:buNone/>
            </a:pPr>
            <a:r>
              <a:rPr lang="en-US" sz="1100" b="1" dirty="0">
                <a:solidFill>
                  <a:srgbClr val="0B3D5C"/>
                </a:solidFill>
                <a:latin typeface="Calibri" pitchFamily="34" charset="0"/>
                <a:ea typeface="Calibri" pitchFamily="34" charset="-122"/>
                <a:cs typeface="Calibri" pitchFamily="34" charset="-120"/>
              </a:rPr>
              <a:t>is_read_only() guardrail</a:t>
            </a:r>
            <a:endParaRPr lang="en-US" sz="1100" dirty="0"/>
          </a:p>
        </p:txBody>
      </p:sp>
      <p:sp>
        <p:nvSpPr>
          <p:cNvPr id="18" name="Text 16"/>
          <p:cNvSpPr txBox="1"/>
          <p:nvPr/>
        </p:nvSpPr>
        <p:spPr>
          <a:xfrm>
            <a:off x="7589520" y="2057400"/>
            <a:ext cx="2066544" cy="320040"/>
          </a:xfrm>
          <a:prstGeom prst="rect">
            <a:avLst/>
          </a:prstGeom>
          <a:noFill/>
          <a:ln/>
        </p:spPr>
        <p:txBody>
          <a:bodyPr wrap="square" lIns="0" tIns="0" rIns="0" bIns="0" rtlCol="0" anchor="ctr"/>
          <a:lstStyle/>
          <a:p>
            <a:pPr indent="0" marL="0">
              <a:lnSpc>
                <a:spcPct val="110000"/>
              </a:lnSpc>
              <a:buNone/>
            </a:pPr>
            <a:r>
              <a:rPr lang="en-US" sz="900" dirty="0">
                <a:solidFill>
                  <a:srgbClr val="5B6B76"/>
                </a:solidFill>
                <a:latin typeface="Calibri" pitchFamily="34" charset="0"/>
                <a:ea typeface="Calibri" pitchFamily="34" charset="-122"/>
                <a:cs typeface="Calibri" pitchFamily="34" charset="-120"/>
              </a:rPr>
              <a:t>rejects anything but SELECT</a:t>
            </a:r>
            <a:endParaRPr lang="en-US" sz="900" dirty="0"/>
          </a:p>
        </p:txBody>
      </p:sp>
      <p:sp>
        <p:nvSpPr>
          <p:cNvPr id="19" name="Shape 17"/>
          <p:cNvSpPr/>
          <p:nvPr/>
        </p:nvSpPr>
        <p:spPr>
          <a:xfrm>
            <a:off x="9793224" y="1947672"/>
            <a:ext cx="182880" cy="128016"/>
          </a:xfrm>
          <a:prstGeom prst="rightArrow">
            <a:avLst/>
          </a:prstGeom>
          <a:solidFill>
            <a:srgbClr val="1C7293"/>
          </a:solidFill>
          <a:ln/>
        </p:spPr>
      </p:sp>
      <p:sp>
        <p:nvSpPr>
          <p:cNvPr id="20" name="Shape 18"/>
          <p:cNvSpPr/>
          <p:nvPr/>
        </p:nvSpPr>
        <p:spPr>
          <a:xfrm>
            <a:off x="10003536" y="1600200"/>
            <a:ext cx="1828800" cy="822960"/>
          </a:xfrm>
          <a:prstGeom prst="roundRect">
            <a:avLst>
              <a:gd name="adj" fmla="val 8889"/>
            </a:avLst>
          </a:prstGeom>
          <a:solidFill>
            <a:srgbClr val="F4F8FA"/>
          </a:solidFill>
          <a:ln w="12700">
            <a:solidFill>
              <a:srgbClr val="DCE6EA"/>
            </a:solidFill>
            <a:prstDash val="solid"/>
          </a:ln>
        </p:spPr>
      </p:sp>
      <p:sp>
        <p:nvSpPr>
          <p:cNvPr id="21" name="Text 19"/>
          <p:cNvSpPr txBox="1"/>
          <p:nvPr/>
        </p:nvSpPr>
        <p:spPr>
          <a:xfrm>
            <a:off x="10113264" y="1709928"/>
            <a:ext cx="1609344" cy="347472"/>
          </a:xfrm>
          <a:prstGeom prst="rect">
            <a:avLst/>
          </a:prstGeom>
          <a:noFill/>
          <a:ln/>
        </p:spPr>
        <p:txBody>
          <a:bodyPr wrap="square" lIns="0" tIns="0" rIns="0" bIns="0" rtlCol="0" anchor="ctr"/>
          <a:lstStyle/>
          <a:p>
            <a:pPr indent="0" marL="0">
              <a:buNone/>
            </a:pPr>
            <a:r>
              <a:rPr lang="en-US" sz="1100" b="1" dirty="0">
                <a:solidFill>
                  <a:srgbClr val="0B3D5C"/>
                </a:solidFill>
                <a:latin typeface="Calibri" pitchFamily="34" charset="0"/>
                <a:ea typeface="Calibri" pitchFamily="34" charset="-122"/>
                <a:cs typeface="Calibri" pitchFamily="34" charset="-120"/>
              </a:rPr>
              <a:t>Real answer</a:t>
            </a:r>
            <a:endParaRPr lang="en-US" sz="1100" dirty="0"/>
          </a:p>
        </p:txBody>
      </p:sp>
      <p:sp>
        <p:nvSpPr>
          <p:cNvPr id="22" name="Text 20"/>
          <p:cNvSpPr txBox="1"/>
          <p:nvPr/>
        </p:nvSpPr>
        <p:spPr>
          <a:xfrm>
            <a:off x="10113264" y="2057400"/>
            <a:ext cx="1609344" cy="320040"/>
          </a:xfrm>
          <a:prstGeom prst="rect">
            <a:avLst/>
          </a:prstGeom>
          <a:noFill/>
          <a:ln/>
        </p:spPr>
        <p:txBody>
          <a:bodyPr wrap="square" lIns="0" tIns="0" rIns="0" bIns="0" rtlCol="0" anchor="ctr"/>
          <a:lstStyle/>
          <a:p>
            <a:pPr indent="0" marL="0">
              <a:lnSpc>
                <a:spcPct val="110000"/>
              </a:lnSpc>
              <a:buNone/>
            </a:pPr>
            <a:r>
              <a:rPr lang="en-US" sz="900" dirty="0">
                <a:solidFill>
                  <a:srgbClr val="5B6B76"/>
                </a:solidFill>
                <a:latin typeface="Calibri" pitchFamily="34" charset="0"/>
                <a:ea typeface="Calibri" pitchFamily="34" charset="-122"/>
                <a:cs typeface="Calibri" pitchFamily="34" charset="-120"/>
              </a:rPr>
              <a:t>grounded in actual rows</a:t>
            </a:r>
            <a:endParaRPr lang="en-US" sz="900" dirty="0"/>
          </a:p>
        </p:txBody>
      </p:sp>
      <p:sp>
        <p:nvSpPr>
          <p:cNvPr id="23" name="Text 21"/>
          <p:cNvSpPr txBox="1"/>
          <p:nvPr/>
        </p:nvSpPr>
        <p:spPr>
          <a:xfrm>
            <a:off x="640080" y="2834640"/>
            <a:ext cx="5120640" cy="320040"/>
          </a:xfrm>
          <a:prstGeom prst="rect">
            <a:avLst/>
          </a:prstGeom>
          <a:noFill/>
          <a:ln/>
        </p:spPr>
        <p:txBody>
          <a:bodyPr wrap="square" lIns="0" tIns="0" rIns="0" bIns="0"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Why templates first</a:t>
            </a:r>
            <a:endParaRPr lang="en-US" sz="1400" dirty="0"/>
          </a:p>
        </p:txBody>
      </p:sp>
      <p:sp>
        <p:nvSpPr>
          <p:cNvPr id="24" name="Shape 22"/>
          <p:cNvSpPr/>
          <p:nvPr/>
        </p:nvSpPr>
        <p:spPr>
          <a:xfrm>
            <a:off x="640080" y="3319272"/>
            <a:ext cx="73152" cy="73152"/>
          </a:xfrm>
          <a:prstGeom prst="ellipse">
            <a:avLst/>
          </a:prstGeom>
          <a:solidFill>
            <a:srgbClr val="1C7293"/>
          </a:solidFill>
          <a:ln/>
        </p:spPr>
      </p:sp>
      <p:sp>
        <p:nvSpPr>
          <p:cNvPr id="25" name="Text 23"/>
          <p:cNvSpPr txBox="1"/>
          <p:nvPr/>
        </p:nvSpPr>
        <p:spPr>
          <a:xfrm>
            <a:off x="868680" y="3191256"/>
            <a:ext cx="4892040" cy="365760"/>
          </a:xfrm>
          <a:prstGeom prst="rect">
            <a:avLst/>
          </a:prstGeom>
          <a:noFill/>
          <a:ln/>
        </p:spPr>
        <p:txBody>
          <a:bodyPr wrap="square" lIns="0" tIns="0" rIns="0" bIns="0" rtlCol="0" anchor="ctr"/>
          <a:lstStyle/>
          <a:p>
            <a:pPr indent="0" marL="0">
              <a:lnSpc>
                <a:spcPct val="120000"/>
              </a:lnSpc>
              <a:buNone/>
            </a:pPr>
            <a:r>
              <a:rPr lang="en-US" sz="1150" dirty="0">
                <a:solidFill>
                  <a:srgbClr val="5B6B76"/>
                </a:solidFill>
                <a:latin typeface="Calibri" pitchFamily="34" charset="0"/>
                <a:ea typeface="Calibri" pitchFamily="34" charset="-122"/>
                <a:cs typeface="Calibri" pitchFamily="34" charset="-120"/>
              </a:rPr>
              <a:t>Zero cost, zero latency, zero network call — pure SQLite.</a:t>
            </a:r>
            <a:endParaRPr lang="en-US" sz="1150" dirty="0"/>
          </a:p>
        </p:txBody>
      </p:sp>
      <p:sp>
        <p:nvSpPr>
          <p:cNvPr id="26" name="Shape 24"/>
          <p:cNvSpPr/>
          <p:nvPr/>
        </p:nvSpPr>
        <p:spPr>
          <a:xfrm>
            <a:off x="640080" y="3776472"/>
            <a:ext cx="73152" cy="73152"/>
          </a:xfrm>
          <a:prstGeom prst="ellipse">
            <a:avLst/>
          </a:prstGeom>
          <a:solidFill>
            <a:srgbClr val="1C7293"/>
          </a:solidFill>
          <a:ln/>
        </p:spPr>
      </p:sp>
      <p:sp>
        <p:nvSpPr>
          <p:cNvPr id="27" name="Text 25"/>
          <p:cNvSpPr txBox="1"/>
          <p:nvPr/>
        </p:nvSpPr>
        <p:spPr>
          <a:xfrm>
            <a:off x="868680" y="3648456"/>
            <a:ext cx="4892040" cy="365760"/>
          </a:xfrm>
          <a:prstGeom prst="rect">
            <a:avLst/>
          </a:prstGeom>
          <a:noFill/>
          <a:ln/>
        </p:spPr>
        <p:txBody>
          <a:bodyPr wrap="square" lIns="0" tIns="0" rIns="0" bIns="0" rtlCol="0" anchor="ctr"/>
          <a:lstStyle/>
          <a:p>
            <a:pPr indent="0" marL="0">
              <a:lnSpc>
                <a:spcPct val="120000"/>
              </a:lnSpc>
              <a:buNone/>
            </a:pPr>
            <a:r>
              <a:rPr lang="en-US" sz="1150" dirty="0">
                <a:solidFill>
                  <a:srgbClr val="5B6B76"/>
                </a:solidFill>
                <a:latin typeface="Calibri" pitchFamily="34" charset="0"/>
                <a:ea typeface="Calibri" pitchFamily="34" charset="-122"/>
                <a:cs typeface="Calibri" pitchFamily="34" charset="-120"/>
              </a:rPr>
              <a:t>Hand-vetted: every answer reproducible and pre-checked.</a:t>
            </a:r>
            <a:endParaRPr lang="en-US" sz="1150" dirty="0"/>
          </a:p>
        </p:txBody>
      </p:sp>
      <p:sp>
        <p:nvSpPr>
          <p:cNvPr id="28" name="Shape 26"/>
          <p:cNvSpPr/>
          <p:nvPr/>
        </p:nvSpPr>
        <p:spPr>
          <a:xfrm>
            <a:off x="640080" y="4233672"/>
            <a:ext cx="73152" cy="73152"/>
          </a:xfrm>
          <a:prstGeom prst="ellipse">
            <a:avLst/>
          </a:prstGeom>
          <a:solidFill>
            <a:srgbClr val="1C7293"/>
          </a:solidFill>
          <a:ln/>
        </p:spPr>
      </p:sp>
      <p:sp>
        <p:nvSpPr>
          <p:cNvPr id="29" name="Text 27"/>
          <p:cNvSpPr txBox="1"/>
          <p:nvPr/>
        </p:nvSpPr>
        <p:spPr>
          <a:xfrm>
            <a:off x="868680" y="4105656"/>
            <a:ext cx="4892040" cy="365760"/>
          </a:xfrm>
          <a:prstGeom prst="rect">
            <a:avLst/>
          </a:prstGeom>
          <a:noFill/>
          <a:ln/>
        </p:spPr>
        <p:txBody>
          <a:bodyPr wrap="square" lIns="0" tIns="0" rIns="0" bIns="0" rtlCol="0" anchor="ctr"/>
          <a:lstStyle/>
          <a:p>
            <a:pPr indent="0" marL="0">
              <a:lnSpc>
                <a:spcPct val="120000"/>
              </a:lnSpc>
              <a:buNone/>
            </a:pPr>
            <a:r>
              <a:rPr lang="en-US" sz="1150" dirty="0">
                <a:solidFill>
                  <a:srgbClr val="5B6B76"/>
                </a:solidFill>
                <a:latin typeface="Calibri" pitchFamily="34" charset="0"/>
                <a:ea typeface="Calibri" pitchFamily="34" charset="-122"/>
                <a:cs typeface="Calibri" pitchFamily="34" charset="-120"/>
              </a:rPr>
              <a:t>OpenRouter (openai/gpt-4o-mini) only earns its keep on genuinely novel questions.</a:t>
            </a:r>
            <a:endParaRPr lang="en-US" sz="1150" dirty="0"/>
          </a:p>
        </p:txBody>
      </p:sp>
      <p:sp>
        <p:nvSpPr>
          <p:cNvPr id="30" name="Shape 28"/>
          <p:cNvSpPr/>
          <p:nvPr/>
        </p:nvSpPr>
        <p:spPr>
          <a:xfrm>
            <a:off x="5989320" y="2834640"/>
            <a:ext cx="5532120" cy="1783080"/>
          </a:xfrm>
          <a:prstGeom prst="roundRect">
            <a:avLst>
              <a:gd name="adj" fmla="val 5128"/>
            </a:avLst>
          </a:prstGeom>
          <a:solidFill>
            <a:srgbClr val="0B3D5C"/>
          </a:solidFill>
          <a:ln/>
        </p:spPr>
      </p:sp>
      <p:sp>
        <p:nvSpPr>
          <p:cNvPr id="31" name="Text 29"/>
          <p:cNvSpPr txBox="1"/>
          <p:nvPr/>
        </p:nvSpPr>
        <p:spPr>
          <a:xfrm>
            <a:off x="6263640" y="2999232"/>
            <a:ext cx="1828800" cy="822960"/>
          </a:xfrm>
          <a:prstGeom prst="rect">
            <a:avLst/>
          </a:prstGeom>
          <a:noFill/>
          <a:ln/>
        </p:spPr>
        <p:txBody>
          <a:bodyPr wrap="square" lIns="0" tIns="0" rIns="0" bIns="0" rtlCol="0" anchor="ctr"/>
          <a:lstStyle/>
          <a:p>
            <a:pPr indent="0" marL="0">
              <a:buNone/>
            </a:pPr>
            <a:r>
              <a:rPr lang="en-US" sz="4600" b="1" dirty="0">
                <a:solidFill>
                  <a:srgbClr val="21C6A8"/>
                </a:solidFill>
                <a:latin typeface="Cambria" pitchFamily="34" charset="0"/>
                <a:ea typeface="Cambria" pitchFamily="34" charset="-122"/>
                <a:cs typeface="Cambria" pitchFamily="34" charset="-120"/>
              </a:rPr>
              <a:t>21</a:t>
            </a:r>
            <a:endParaRPr lang="en-US" sz="4600" dirty="0"/>
          </a:p>
        </p:txBody>
      </p:sp>
      <p:sp>
        <p:nvSpPr>
          <p:cNvPr id="32" name="Text 30"/>
          <p:cNvSpPr txBox="1"/>
          <p:nvPr/>
        </p:nvSpPr>
        <p:spPr>
          <a:xfrm>
            <a:off x="6263640" y="3794760"/>
            <a:ext cx="2194560" cy="685800"/>
          </a:xfrm>
          <a:prstGeom prst="rect">
            <a:avLst/>
          </a:prstGeom>
          <a:noFill/>
          <a:ln/>
        </p:spPr>
        <p:txBody>
          <a:bodyPr wrap="square" lIns="0" tIns="0" rIns="0" bIns="0" rtlCol="0" anchor="ctr"/>
          <a:lstStyle/>
          <a:p>
            <a:pPr indent="0" marL="0">
              <a:lnSpc>
                <a:spcPct val="120000"/>
              </a:lnSpc>
              <a:buNone/>
            </a:pPr>
            <a:r>
              <a:rPr lang="en-US" sz="1050" dirty="0">
                <a:solidFill>
                  <a:srgbClr val="CADCE6"/>
                </a:solidFill>
                <a:latin typeface="Calibri" pitchFamily="34" charset="0"/>
                <a:ea typeface="Calibri" pitchFamily="34" charset="-122"/>
                <a:cs typeface="Calibri" pitchFamily="34" charset="-120"/>
              </a:rPr>
              <a:t>local SQL templates cover every question in the dataset notes</a:t>
            </a:r>
            <a:endParaRPr lang="en-US" sz="1050" dirty="0"/>
          </a:p>
        </p:txBody>
      </p:sp>
      <p:sp>
        <p:nvSpPr>
          <p:cNvPr id="33" name="Shape 31"/>
          <p:cNvSpPr/>
          <p:nvPr/>
        </p:nvSpPr>
        <p:spPr>
          <a:xfrm>
            <a:off x="8686800" y="3017520"/>
            <a:ext cx="0" cy="1417320"/>
          </a:xfrm>
          <a:prstGeom prst="line">
            <a:avLst/>
          </a:prstGeom>
          <a:noFill/>
          <a:ln w="12700">
            <a:solidFill>
              <a:srgbClr val="2E5A70"/>
            </a:solidFill>
            <a:prstDash val="solid"/>
          </a:ln>
        </p:spPr>
      </p:sp>
      <p:sp>
        <p:nvSpPr>
          <p:cNvPr id="34" name="Text 32"/>
          <p:cNvSpPr txBox="1"/>
          <p:nvPr/>
        </p:nvSpPr>
        <p:spPr>
          <a:xfrm>
            <a:off x="8915400" y="2999232"/>
            <a:ext cx="1280160" cy="822960"/>
          </a:xfrm>
          <a:prstGeom prst="rect">
            <a:avLst/>
          </a:prstGeom>
          <a:noFill/>
          <a:ln/>
        </p:spPr>
        <p:txBody>
          <a:bodyPr wrap="square" lIns="0" tIns="0" rIns="0" bIns="0" rtlCol="0" anchor="ctr"/>
          <a:lstStyle/>
          <a:p>
            <a:pPr indent="0" marL="0">
              <a:buNone/>
            </a:pPr>
            <a:r>
              <a:rPr lang="en-US" sz="4600" b="1" dirty="0">
                <a:solidFill>
                  <a:srgbClr val="21C6A8"/>
                </a:solidFill>
                <a:latin typeface="Cambria" pitchFamily="34" charset="0"/>
                <a:ea typeface="Cambria" pitchFamily="34" charset="-122"/>
                <a:cs typeface="Cambria" pitchFamily="34" charset="-120"/>
              </a:rPr>
              <a:t>2</a:t>
            </a:r>
            <a:endParaRPr lang="en-US" sz="4600" dirty="0"/>
          </a:p>
        </p:txBody>
      </p:sp>
      <p:sp>
        <p:nvSpPr>
          <p:cNvPr id="35" name="Text 33"/>
          <p:cNvSpPr txBox="1"/>
          <p:nvPr/>
        </p:nvSpPr>
        <p:spPr>
          <a:xfrm>
            <a:off x="8915400" y="3794760"/>
            <a:ext cx="2468880" cy="685800"/>
          </a:xfrm>
          <a:prstGeom prst="rect">
            <a:avLst/>
          </a:prstGeom>
          <a:noFill/>
          <a:ln/>
        </p:spPr>
        <p:txBody>
          <a:bodyPr wrap="square" lIns="0" tIns="0" rIns="0" bIns="0" rtlCol="0" anchor="ctr"/>
          <a:lstStyle/>
          <a:p>
            <a:pPr indent="0" marL="0">
              <a:lnSpc>
                <a:spcPct val="120000"/>
              </a:lnSpc>
              <a:buNone/>
            </a:pPr>
            <a:r>
              <a:rPr lang="en-US" sz="1050" dirty="0">
                <a:solidFill>
                  <a:srgbClr val="CADCE6"/>
                </a:solidFill>
                <a:latin typeface="Calibri" pitchFamily="34" charset="0"/>
                <a:ea typeface="Calibri" pitchFamily="34" charset="-122"/>
                <a:cs typeface="Calibri" pitchFamily="34" charset="-120"/>
              </a:rPr>
              <a:t>LLM calls per fallback question: plan SQL, then summarize real result rows</a:t>
            </a:r>
            <a:endParaRPr lang="en-US" sz="1050" dirty="0"/>
          </a:p>
        </p:txBody>
      </p:sp>
      <p:sp>
        <p:nvSpPr>
          <p:cNvPr id="36" name="Text 34"/>
          <p:cNvSpPr txBox="1"/>
          <p:nvPr/>
        </p:nvSpPr>
        <p:spPr>
          <a:xfrm>
            <a:off x="640080" y="5074920"/>
            <a:ext cx="10881360" cy="640080"/>
          </a:xfrm>
          <a:prstGeom prst="rect">
            <a:avLst/>
          </a:prstGeom>
          <a:noFill/>
          <a:ln/>
        </p:spPr>
        <p:txBody>
          <a:bodyPr wrap="square" lIns="0" tIns="0" rIns="0" bIns="0" rtlCol="0" anchor="ctr"/>
          <a:lstStyle/>
          <a:p>
            <a:pPr indent="0" marL="0">
              <a:lnSpc>
                <a:spcPct val="130000"/>
              </a:lnSpc>
              <a:buNone/>
            </a:pPr>
            <a:r>
              <a:rPr lang="en-US" sz="1200" b="1" dirty="0">
                <a:solidFill>
                  <a:srgbClr val="0B3D5C"/>
                </a:solidFill>
                <a:latin typeface="Calibri" pitchFamily="34" charset="0"/>
                <a:ea typeface="Calibri" pitchFamily="34" charset="-122"/>
                <a:cs typeface="Calibri" pitchFamily="34" charset="-120"/>
              </a:rPr>
              <a:t>Same guardrail, both paths: </a:t>
            </a:r>
            <a:pPr indent="0" marL="0">
              <a:lnSpc>
                <a:spcPct val="130000"/>
              </a:lnSpc>
              <a:buNone/>
            </a:pPr>
            <a:r>
              <a:rPr lang="en-US" sz="1200" dirty="0">
                <a:solidFill>
                  <a:srgbClr val="5B6B76"/>
                </a:solidFill>
                <a:latin typeface="Calibri" pitchFamily="34" charset="0"/>
                <a:ea typeface="Calibri" pitchFamily="34" charset="-122"/>
                <a:cs typeface="Calibri" pitchFamily="34" charset="-120"/>
              </a:rPr>
              <a:t>is_read_only() validates SQL from either the templates or the LLM before it ever touches the database — a rejected query is refused, never silently executed.</a:t>
            </a:r>
            <a:endParaRPr lang="en-US" sz="1200" dirty="0"/>
          </a:p>
        </p:txBody>
      </p:sp>
      <p:sp>
        <p:nvSpPr>
          <p:cNvPr id="37" name="Text 35"/>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5B6B76"/>
                </a:solidFill>
                <a:latin typeface="Calibri" pitchFamily="34" charset="0"/>
                <a:ea typeface="Calibri" pitchFamily="34" charset="-122"/>
                <a:cs typeface="Calibri" pitchFamily="34" charset="-120"/>
              </a:rPr>
              <a:t>Analytics of TransOrg</a:t>
            </a:r>
            <a:endParaRPr lang="en-US" sz="1000" dirty="0"/>
          </a:p>
        </p:txBody>
      </p:sp>
      <p:sp>
        <p:nvSpPr>
          <p:cNvPr id="38" name="Text 36"/>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78240" y="-2103120"/>
            <a:ext cx="5760720" cy="5760720"/>
          </a:xfrm>
          <a:prstGeom prst="ellipse">
            <a:avLst/>
          </a:prstGeom>
          <a:solidFill>
            <a:srgbClr val="1C7293">
              <a:alpha val="10000"/>
            </a:srgbClr>
          </a:solidFill>
          <a:ln/>
        </p:spPr>
      </p:sp>
      <p:sp>
        <p:nvSpPr>
          <p:cNvPr id="3" name="Shape 1"/>
          <p:cNvSpPr/>
          <p:nvPr/>
        </p:nvSpPr>
        <p:spPr>
          <a:xfrm>
            <a:off x="-1828800" y="3840480"/>
            <a:ext cx="4206240" cy="4206240"/>
          </a:xfrm>
          <a:prstGeom prst="ellipse">
            <a:avLst/>
          </a:prstGeom>
          <a:solidFill>
            <a:srgbClr val="21C6A8">
              <a:alpha val="10000"/>
            </a:srgbClr>
          </a:solidFill>
          <a:ln/>
        </p:spPr>
      </p:sp>
      <p:sp>
        <p:nvSpPr>
          <p:cNvPr id="4" name="Text 2"/>
          <p:cNvSpPr txBox="1"/>
          <p:nvPr/>
        </p:nvSpPr>
        <p:spPr>
          <a:xfrm>
            <a:off x="0" y="2743200"/>
            <a:ext cx="12191695" cy="1188720"/>
          </a:xfrm>
          <a:prstGeom prst="rect">
            <a:avLst/>
          </a:prstGeom>
          <a:noFill/>
          <a:ln/>
        </p:spPr>
        <p:txBody>
          <a:bodyPr wrap="square" lIns="0" tIns="0" rIns="0" bIns="0" rtlCol="0" anchor="ctr"/>
          <a:lstStyle/>
          <a:p>
            <a:pPr algn="ctr" indent="0" marL="0">
              <a:buNone/>
            </a:pPr>
            <a:r>
              <a:rPr lang="en-US" sz="5400" b="1" dirty="0">
                <a:solidFill>
                  <a:srgbClr val="0B3D5C"/>
                </a:solidFill>
                <a:latin typeface="Cambria" pitchFamily="34" charset="0"/>
                <a:ea typeface="Cambria" pitchFamily="34" charset="-122"/>
                <a:cs typeface="Cambria" pitchFamily="34" charset="-120"/>
              </a:rPr>
              <a:t>Thank You</a:t>
            </a:r>
            <a:endParaRPr lang="en-US" sz="5400" dirty="0"/>
          </a:p>
        </p:txBody>
      </p:sp>
      <p:sp>
        <p:nvSpPr>
          <p:cNvPr id="5" name="Text 3"/>
          <p:cNvSpPr txBox="1"/>
          <p:nvPr/>
        </p:nvSpPr>
        <p:spPr>
          <a:xfrm>
            <a:off x="0" y="3886200"/>
            <a:ext cx="12191695" cy="457200"/>
          </a:xfrm>
          <a:prstGeom prst="rect">
            <a:avLst/>
          </a:prstGeom>
          <a:noFill/>
          <a:ln/>
        </p:spPr>
        <p:txBody>
          <a:bodyPr wrap="square" lIns="0" tIns="0" rIns="0" bIns="0" rtlCol="0" anchor="ctr"/>
          <a:lstStyle/>
          <a:p>
            <a:pPr algn="ctr" indent="0" marL="0">
              <a:buNone/>
            </a:pPr>
            <a:r>
              <a:rPr lang="en-US" sz="1400" dirty="0">
                <a:solidFill>
                  <a:srgbClr val="5B6B76"/>
                </a:solidFill>
                <a:latin typeface="Calibri" pitchFamily="34" charset="0"/>
                <a:ea typeface="Calibri" pitchFamily="34" charset="-122"/>
                <a:cs typeface="Calibri" pitchFamily="34" charset="-120"/>
              </a:rPr>
              <a:t>Analytics of TransOrg — UPI Fraud &amp; Merchant Risk Analytics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2026-09-16T10:58:56Z</dcterms:created>
  <dcterms:modified xsi:type="dcterms:W3CDTF">2026-09-16T10:58:56Z</dcterms:modified>
</cp:coreProperties>
</file>